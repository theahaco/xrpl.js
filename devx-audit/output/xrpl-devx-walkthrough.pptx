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8c35554c25b4e87" /><Relationship Type="http://schemas.openxmlformats.org/officeDocument/2006/relationships/extended-properties" Target="/docProps/app.xml" Id="R52baf4dc767a46d2" /><Relationship Type="http://schemas.openxmlformats.org/officeDocument/2006/relationships/officeDocument" Target="/ppt/presentation.xml" Id="R838ccad5d75d4ced" /></Relationships>
</file>

<file path=ppt/presentation.xml><?xml version="1.0" encoding="utf-8"?>
<p:presentation xmlns:p="http://schemas.openxmlformats.org/presentationml/2006/main">
  <p:sldMasterIdLst>
    <p:sldMasterId xmlns:r="http://schemas.openxmlformats.org/officeDocument/2006/relationships" id="2147483648" r:id="R5ae0f4ff105f47fe"/>
  </p:sldMasterIdLst>
  <p:notesMasterIdLst>
    <p:notesMasterId xmlns:r="http://schemas.openxmlformats.org/officeDocument/2006/relationships" r:id="R4e33c3ec72ca4e69"/>
  </p:notesMasterIdLst>
  <p:sldIdLst>
    <p:sldId xmlns:r="http://schemas.openxmlformats.org/officeDocument/2006/relationships" id="256" r:id="R7f6f075be0be4cbc"/>
    <p:sldId xmlns:r="http://schemas.openxmlformats.org/officeDocument/2006/relationships" id="257" r:id="R05c292ce1ffd4d44"/>
    <p:sldId xmlns:r="http://schemas.openxmlformats.org/officeDocument/2006/relationships" id="258" r:id="Rc708d7e1244341df"/>
    <p:sldId xmlns:r="http://schemas.openxmlformats.org/officeDocument/2006/relationships" id="259" r:id="Re5aa88afb7374b09"/>
    <p:sldId xmlns:r="http://schemas.openxmlformats.org/officeDocument/2006/relationships" id="260" r:id="R456576e48ea84a35"/>
    <p:sldId xmlns:r="http://schemas.openxmlformats.org/officeDocument/2006/relationships" id="261" r:id="R49b1d3b7b2ee443f"/>
    <p:sldId xmlns:r="http://schemas.openxmlformats.org/officeDocument/2006/relationships" id="262" r:id="Rf2d4f1496c4b4e09"/>
    <p:sldId xmlns:r="http://schemas.openxmlformats.org/officeDocument/2006/relationships" id="263" r:id="Rf9e0dd9390ed4b12"/>
    <p:sldId xmlns:r="http://schemas.openxmlformats.org/officeDocument/2006/relationships" id="264" r:id="R9cfe73b6bc6f47f1"/>
    <p:sldId xmlns:r="http://schemas.openxmlformats.org/officeDocument/2006/relationships" id="265" r:id="R7fb0342743a54667"/>
    <p:sldId xmlns:r="http://schemas.openxmlformats.org/officeDocument/2006/relationships" id="266" r:id="R60e3540634944e00"/>
    <p:sldId xmlns:r="http://schemas.openxmlformats.org/officeDocument/2006/relationships" id="267" r:id="R37133eb91d4e4a78"/>
    <p:sldId xmlns:r="http://schemas.openxmlformats.org/officeDocument/2006/relationships" id="268" r:id="R81440bd52c8b4f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6b5e9b9df9467b" /><Relationship Type="http://schemas.openxmlformats.org/officeDocument/2006/relationships/slideMaster" Target="/ppt/slideMasters/slideMaster1.xml" Id="R5ae0f4ff105f47fe" /><Relationship Type="http://schemas.openxmlformats.org/officeDocument/2006/relationships/notesMaster" Target="/ppt/notesMasters/notesMaster1.xml" Id="R4e33c3ec72ca4e69" /><Relationship Type="http://schemas.openxmlformats.org/officeDocument/2006/relationships/presProps" Target="/ppt/presProps.xml" Id="Rb9ec0d2b9fb64a56" /><Relationship Type="http://schemas.openxmlformats.org/officeDocument/2006/relationships/tableStyles" Target="/ppt/tableStyles.xml" Id="Rbbd91d13d0c24ecf" /><Relationship Type="http://schemas.openxmlformats.org/officeDocument/2006/relationships/slide" Target="/ppt/slides/slide1.xml" Id="R7f6f075be0be4cbc" /><Relationship Type="http://schemas.openxmlformats.org/officeDocument/2006/relationships/slide" Target="/ppt/slides/slide2.xml" Id="R05c292ce1ffd4d44" /><Relationship Type="http://schemas.openxmlformats.org/officeDocument/2006/relationships/slide" Target="/ppt/slides/slide3.xml" Id="Rc708d7e1244341df" /><Relationship Type="http://schemas.openxmlformats.org/officeDocument/2006/relationships/slide" Target="/ppt/slides/slide4.xml" Id="Re5aa88afb7374b09" /><Relationship Type="http://schemas.openxmlformats.org/officeDocument/2006/relationships/slide" Target="/ppt/slides/slide5.xml" Id="R456576e48ea84a35" /><Relationship Type="http://schemas.openxmlformats.org/officeDocument/2006/relationships/slide" Target="/ppt/slides/slide6.xml" Id="R49b1d3b7b2ee443f" /><Relationship Type="http://schemas.openxmlformats.org/officeDocument/2006/relationships/slide" Target="/ppt/slides/slide7.xml" Id="Rf2d4f1496c4b4e09" /><Relationship Type="http://schemas.openxmlformats.org/officeDocument/2006/relationships/slide" Target="/ppt/slides/slide8.xml" Id="Rf9e0dd9390ed4b12" /><Relationship Type="http://schemas.openxmlformats.org/officeDocument/2006/relationships/slide" Target="/ppt/slides/slide9.xml" Id="R9cfe73b6bc6f47f1" /><Relationship Type="http://schemas.openxmlformats.org/officeDocument/2006/relationships/slide" Target="/ppt/slides/slide10.xml" Id="R7fb0342743a54667" /><Relationship Type="http://schemas.openxmlformats.org/officeDocument/2006/relationships/slide" Target="/ppt/slides/slide11.xml" Id="R60e3540634944e00" /><Relationship Type="http://schemas.openxmlformats.org/officeDocument/2006/relationships/slide" Target="/ppt/slides/slide12.xml" Id="R37133eb91d4e4a78" /><Relationship Type="http://schemas.openxmlformats.org/officeDocument/2006/relationships/slide" Target="/ppt/slides/slide13.xml" Id="R81440bd52c8b4f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435fecbae64a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c039587324473f" /><Relationship Type="http://schemas.openxmlformats.org/officeDocument/2006/relationships/notesMaster" Target="/ppt/notesMasters/notesMaster1.xml" Id="R9f60c3abd7c844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4d5fa2326f4d00" /><Relationship Type="http://schemas.openxmlformats.org/officeDocument/2006/relationships/notesMaster" Target="/ppt/notesMasters/notesMaster1.xml" Id="R5a2299564ac94c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9cfdec202642b4" /><Relationship Type="http://schemas.openxmlformats.org/officeDocument/2006/relationships/notesMaster" Target="/ppt/notesMasters/notesMaster1.xml" Id="R1a160a0e994042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b7d505230443a7" /><Relationship Type="http://schemas.openxmlformats.org/officeDocument/2006/relationships/notesMaster" Target="/ppt/notesMasters/notesMaster1.xml" Id="R1532b8464ed149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63e3a562f54de9" /><Relationship Type="http://schemas.openxmlformats.org/officeDocument/2006/relationships/notesMaster" Target="/ppt/notesMasters/notesMaster1.xml" Id="Rc7c4ee0c3f8449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58d2ac684c4d01" /><Relationship Type="http://schemas.openxmlformats.org/officeDocument/2006/relationships/notesMaster" Target="/ppt/notesMasters/notesMaster1.xml" Id="R660f8439f4494d2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8c1cd0c806c45a7" /><Relationship Type="http://schemas.openxmlformats.org/officeDocument/2006/relationships/notesMaster" Target="/ppt/notesMasters/notesMaster1.xml" Id="R5477761d6e7348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79a0d5c620840f9" /><Relationship Type="http://schemas.openxmlformats.org/officeDocument/2006/relationships/notesMaster" Target="/ppt/notesMasters/notesMaster1.xml" Id="R3f18b85cfe7f467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6be4c0771ff477c" /><Relationship Type="http://schemas.openxmlformats.org/officeDocument/2006/relationships/notesMaster" Target="/ppt/notesMasters/notesMaster1.xml" Id="R6148134038584c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0609da0afb14d85" /><Relationship Type="http://schemas.openxmlformats.org/officeDocument/2006/relationships/notesMaster" Target="/ppt/notesMasters/notesMaster1.xml" Id="R6315fb2af1e947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3ccee1bb5904ef7" /><Relationship Type="http://schemas.openxmlformats.org/officeDocument/2006/relationships/notesMaster" Target="/ppt/notesMasters/notesMaster1.xml" Id="R0a256ae1c9de4d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f099c58427b4db7" /><Relationship Type="http://schemas.openxmlformats.org/officeDocument/2006/relationships/notesMaster" Target="/ppt/notesMasters/notesMaster1.xml" Id="R90b5b5f904694d2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b782ec8eb7b4ade" /><Relationship Type="http://schemas.openxmlformats.org/officeDocument/2006/relationships/notesMaster" Target="/ppt/notesMasters/notesMaster1.xml" Id="R549b684be9814b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Ripple DevRel by aha. Meeting in two days from the approved brief, September 22 2026. Published baseline xrpl5.3.0, TypeScript5.9.3. This is an expert audit with reproducible examples, not a user study. The goal is an SDK that teaches through autocomplete, inference and useful inline documentation.</a:t>
            </a:r>
          </a:p>
          <a:p xmlns:a="http://schemas.openxmlformats.org/drawingml/2006/main">
            <a:r>
              <a:t>Sources: https://github.com/theahaco/xrpl.js/blob/aha/devx-audit-2026-09/devx-audit/output/report.md; https://github.com/theahaco/xrpl.js/blob/aha/devx-audit-2026-09/devx-audit/BRIEF.md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447 root exports include137 runtime values.69 qualified namespace members are additional, not additional root exports.18 API families have explicit review-depth records. Seven tracked TS families reviewed; four selected current-release workflows executed on isolated rippled3.4.0-rc1 with recorded amendments. Inventory is not exhaustive behavioral testing. Prior107 claims were reconciled against27 open aha proposals, not recounted as new bugs.</a:t>
            </a:r>
          </a:p>
          <a:p xmlns:a="http://schemas.openxmlformats.org/drawingml/2006/main">
            <a:r>
              <a:t>Sources: https://github.com/theahaco/xrpl.js/blob/aha/devx-audit-2026-09/devx-audit/evidence/api-coverage.md; https://github.com/theahaco/xrpl.js/blob/aha/devx-audit-2026-09/devx-audit/evidence/runtime-baseline.json; https://github.com/theahaco/xrpl.js/blob/aha/devx-audit-2026-09/devx-audit/evidence/prior-findings.md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recurring themes, not four isolated defects. Useful transaction discriminants already work. The audit seeks continuity across a journey. TypeScript should reject locally knowable mistakes, carry the selected transaction/query model forward and teach the next step. Network state and operation success continue to require runtime checks.</a:t>
            </a:r>
          </a:p>
          <a:p xmlns:a="http://schemas.openxmlformats.org/drawingml/2006/main">
            <a:r>
              <a:t>Sources: https://github.com/theahaco/xrpl.js/blob/aha/devx-audit-2026-09/devx-audit/evidence/finding-register.md DX-01 through DX-04; https://github.com/theahaco/xrpl.js/blob/aha/devx-audit-2026-09/devx-audit/evidence/journey-baseline.json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TypeScript language-service quickInfo checks, not a fabricated IDE screenshot. Four representative package hovers had empty documentation. The candidate's retained declarations expose descriptions. The0/447 statistic concerns named root-symbol JSDoc prose, not every inherited field. Source descriptions existed for344/447. Restoring comments also exposes stale examples, so documentation needs executable checks.</a:t>
            </a:r>
          </a:p>
          <a:p xmlns:a="http://schemas.openxmlformats.org/drawingml/2006/main">
            <a:r>
              <a:t>Sources: https://github.com/theahaco/xrpl.js/blob/aha/devx-audit-2026-09/devx-audit/evidence/surface-probes.json; https://github.com/theahaco/xrpl.js/blob/aha/devx-audit-2026-09/devx-audit/evidence/surface-probes-prototype.json; https://github.com/theahaco/xrpl.js/blob/aha/devx-audit-2026-09/devx-audit/evidence/api-coverage.md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retained published example names Payment with satisfies, but its typo still compiles because BaseTransaction extends Record&lt;string,unknown&gt;. The proposed experience uses client.tx.payment. The factory supplies the discriminator and wallet account; Payment fields guide completion; DestinationTagg is rejected without an extra annotation. Separate probes verify direct generic request and submission calls, valid inputs, and Omit preserving other required fields. This is not a claim that all invalid transactions can be rejected statically.</a:t>
            </a:r>
          </a:p>
          <a:p xmlns:a="http://schemas.openxmlformats.org/drawingml/2006/main">
            <a:r>
              <a:t>Sources: https://github.com/theahaco/xrpl.js/blob/aha/devx-audit-2026-09/devx-audit/evidence/journey-baseline.json J02,J04,J15; https://github.com/theahaco/xrpl.js/blob/aha/devx-audit-2026-09/devx-audit/evidence/journey-prototype.json; existing proposals https://github.com/theahaco/xrpl.js/pull/46 and /51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literal mpt_issuance selector identifies the ledger object requested. Published5.3.0 returns a broad union. The prototype maps specific selectors to specific result types, and keeps unions when request values are broad or ambiguous. Tests explicitly retain binary response safety and API-version unions. MPTokenMetadata is optional in both versions, so its absence check remains.</a:t>
            </a:r>
          </a:p>
          <a:p xmlns:a="http://schemas.openxmlformats.org/drawingml/2006/main">
            <a:r>
              <a:t>Sources: https://github.com/theahaco/xrpl.js/blob/aha/devx-audit-2026-09/devx-audit/evidence/journey-baseline.json J06-J08,J11-J13; https://github.com/theahaco/xrpl.js/blob/aha/devx-audit-2026-09/devx-audit/evidence/journey-prototype.json; https://github.com/theahaco/xrpl-dev-portal/tree/aha/devx-audit-2026-09/_code-samples/devx-after/issue-mpt-with-metadata.ts; existing PR53 https://github.com/theahaco/xrpl.js/pull/53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current-release Send XRP example uses autofill&lt;Payment&gt; to expose optional prepared fields. The candidate infers Fee as a populated string and represents normalized Flags numerically. Wallet.sign preserves the transaction type through a branded string, and submitAndWait recovers the response transaction type. Direct typed object submissions already preserve their metadata in5.3.0; the demonstrated gap is the signed string boundary. A brand is not validation of arbitrary external blobs.</a:t>
            </a:r>
          </a:p>
          <a:p xmlns:a="http://schemas.openxmlformats.org/drawingml/2006/main">
            <a:r>
              <a:t>Sources: https://github.com/theahaco/xrpl.js/blob/aha/devx-audit-2026-09/devx-audit/evidence/journey-baseline.json J05,J10,J16; https://github.com/theahaco/xrpl.js/blob/aha/devx-audit-2026-09/devx-audit/evidence/journey-prototype.json; https://github.com/theahaco/xrpl-dev-portal/tree/aha/devx-audit-2026-09/_code-samples/devx-after/send-xrp.ts; PR55 https://github.com/theahaco/xrpl.js/pull/55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wallet-bound prototype supplies Account and TransactionType. signAndSubmit and submitAndWait resolve only with a validated successful response. An unsuccessful validated transaction throws TransactionFailedError with the response preserved. trySignAndSubmit and trySubmitAndWait return an ok-discriminated response/error union. This changes published submitAndWait behavior and requires migration review. Existing nonfinal polling remains. Transport failure may leave outcome unknown. Real ledger tests cover success and validated failure.</a:t>
            </a:r>
          </a:p>
          <a:p xmlns:a="http://schemas.openxmlformats.org/drawingml/2006/main">
            <a:r>
              <a:t>Sources: https://github.com/theahaco/xrpl.js/blob/aha/devx-audit-2026-09/devx-audit/evidence/builders-follow-up.md; https://github.com/theahaco/xrpl.js/blob/aha/devx-audit-2026-09/devx-audit/evidence/builders-runtime.json; https://github.com/theahaco/xrpl-dev-portal/tree/aha/devx-audit-2026-09/_code-samples/get-started/ts/get-acct-info.ts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WalletClient binds the wallet once. Factories add Account and TransactionType, preserving explicit Account overrides for regular-key use. Factories do not send transactions. Actual TypeScript language-service checks show all 78 modeled transaction factories and 45 command methods, with representative hover prose, field completion and safe response inference. Registry coverage is not runtime execution of every modeled transaction or command. Sources: https://github.com/theahaco/xrpl.js/blob/aha/devx-audit-2026-09/devx-audit/evidence/builders-editor.json; https://github.com/theahaco/xrpl.js/blob/aha/devx-audit-2026-09/devx-audit/evidence/builders-follow-up.md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seven tracked TS families were inspected. All compile with their existing configs against5.3.0, but this hides any-based weaknesses. Strict/noUncheckedIndexedAccess exposes the Paths empty-alternative access. Four selected teaching journeys were improved and have current-release and unreleased-prototype variants. The broad original AMM example is retained, not represented as fixed. Other legacy families remain findings. The local Realm preview rendered allfour edited tutorials.</a:t>
            </a:r>
          </a:p>
          <a:p xmlns:a="http://schemas.openxmlformats.org/drawingml/2006/main">
            <a:r>
              <a:t>Sources: https://github.com/theahaco/xrpl.js/blob/aha/devx-audit-2026-09/devx-audit/evidence/portal-review.md; https://github.com/theahaco/xrpl.js/blob/aha/devx-audit-2026-09/devx-audit/evidence/portal-coverage.json; https://github.com/theahaco/xrpl.js/blob/aha/devx-audit-2026-09/devx-audit/evidence/runtime-baseline.json; https://github.com/theahaco/xrpl.js/blob/aha/devx-audit-2026-09/devx-audit/evidence/preview-status.md; https://github.com/theahaco/xrpl-dev-portal/tree/aha/devx-audit-2026-09/_code-samples/devx-after/README.md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Events: wrong explicit callbacks accepted, once payload any, local dispatch TypeError. Pagination: NFT next-page type rejects and requestAll default fails in offline preflight; default-limit mismatch reproduced using mock. Error recovery and decoded-data guidance are bounded design/type observations. MPT balance helper omits a synthetic metadata fixture. Exact-value roundtrip at9007199254740991drops adds one drop; no live loss implied. These are prioritized topics, not incidence rates.</a:t>
            </a:r>
          </a:p>
          <a:p xmlns:a="http://schemas.openxmlformats.org/drawingml/2006/main">
            <a:r>
              <a:t>Sources: https://github.com/theahaco/xrpl.js/blob/aha/devx-audit-2026-09/devx-audit/evidence/surface-findings.md SURF02-SURF07; https://github.com/theahaco/xrpl.js/blob/aha/devx-audit-2026-09/devx-audit/evidence/surface-runtime-probes.json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ship the combined prototype wholesale. Independent review rejected overconfident simulation types and premature finality handling in proposed fixes. Compatibility work includes submitAndWait failure migration, wallet-bound builders, strict-input migration, explicit extension paths, minimum TypeScript version and broad/union regression cases. Prioritize the first bounded implementation scope jointly with maintainers. Acceptance evidence should test what the developer installs and reads.</a:t>
            </a:r>
          </a:p>
          <a:p xmlns:a="http://schemas.openxmlformats.org/drawingml/2006/main">
            <a:r>
              <a:t>Sources: https://github.com/theahaco/xrpl.js/blob/aha/devx-audit-2026-09/devx-audit/output/report.md implementation roadmap; https://github.com/theahaco/xrpl.js/blob/aha/devx-audit-2026-09/devx-audit/evidence/prototype-review.md; https://github.com/theahaco/xrpl.js/blob/aha/devx-audit-2026-09/devx-audit/evidence/validation-summary.md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commercial direction, not a contracted commitment or price. Start with a bounded xrpl.js implementation phase and acceptance checks agreed by Ripple DevRel and maintainers. Establish a shared prioritized backlog, implement and verify fixes, keep examples/docs aligned, and prevent regression. The next audit phase covers xrpl-rust API and CLI discovery/help/errors/scripting. This deck is supported by the report, detailed evidence register and fork-only implementation. All external issues/PRs remain aha-owned. Hosted docs preview remains optional pending Realm-compatible infrastructure.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b3d77036e542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7caa7a987b4423" /><Relationship Type="http://schemas.openxmlformats.org/officeDocument/2006/relationships/slideLayout" Target="/ppt/slideLayouts/slideLayout1.xml" Id="R15f64b8d95cd40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f64b8d95cd40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54cb95b874b451f" /><Relationship Type="http://schemas.openxmlformats.org/officeDocument/2006/relationships/notesSlide" Target="/ppt/notesSlides/notesSlide1.xml" Id="R96fa592346ec48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dee2384804947e3" /><Relationship Type="http://schemas.openxmlformats.org/officeDocument/2006/relationships/notesSlide" Target="/ppt/notesSlides/notesSlide2.xml" Id="R26288ab014084c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52a6b706323487e" /><Relationship Type="http://schemas.openxmlformats.org/officeDocument/2006/relationships/notesSlide" Target="/ppt/notesSlides/notesSlide3.xml" Id="R90e81e75337a43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317466d34dc4c43" /><Relationship Type="http://schemas.openxmlformats.org/officeDocument/2006/relationships/notesSlide" Target="/ppt/notesSlides/notesSlide4.xml" Id="Rc747efb08f7d43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21c4b2f327045f7" /><Relationship Type="http://schemas.openxmlformats.org/officeDocument/2006/relationships/notesSlide" Target="/ppt/notesSlides/notesSlide5.xml" Id="Ra1c6b1591f4644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f00762e47a2450f" /><Relationship Type="http://schemas.openxmlformats.org/officeDocument/2006/relationships/notesSlide" Target="/ppt/notesSlides/notesSlide6.xml" Id="R4562aafc1b1d43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b024aad9550457f" /><Relationship Type="http://schemas.openxmlformats.org/officeDocument/2006/relationships/notesSlide" Target="/ppt/notesSlides/notesSlide7.xml" Id="Rac5f9bd828434e0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9d4a091e1724272" /><Relationship Type="http://schemas.openxmlformats.org/officeDocument/2006/relationships/notesSlide" Target="/ppt/notesSlides/notesSlide8.xml" Id="Rcac67f88894c4b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e4fd3d30af64f22" /><Relationship Type="http://schemas.openxmlformats.org/officeDocument/2006/relationships/notesSlide" Target="/ppt/notesSlides/notesSlide9.xml" Id="Rfd3f6c7de1e74f4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764c9d734ca427b" /><Relationship Type="http://schemas.openxmlformats.org/officeDocument/2006/relationships/notesSlide" Target="/ppt/notesSlides/notesSlide10.xml" Id="R94814439535f43d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a19e4bef26c41ab" /><Relationship Type="http://schemas.openxmlformats.org/officeDocument/2006/relationships/notesSlide" Target="/ppt/notesSlides/notesSlide11.xml" Id="R1932e9593ade43f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b5f8f5865ce4e24" /><Relationship Type="http://schemas.openxmlformats.org/officeDocument/2006/relationships/notesSlide" Target="/ppt/notesSlides/notesSlide12.xml" Id="R9431ea962561492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2626908489c4694" /><Relationship Type="http://schemas.openxmlformats.org/officeDocument/2006/relationships/notesSlide" Target="/ppt/notesSlides/notesSlide13.xml" Id="R3c661ba967714b98" /></Relationships>
</file>

<file path=ppt/slides/slide1.xml><?xml version="1.0" encoding="utf-8"?>
<p:sld xmlns:p="http://schemas.openxmlformats.org/presentationml/2006/main">
  <p:cSld>
    <p:bg>
      <p:bgPr>
        <a:solidFill xmlns:a="http://schemas.openxmlformats.org/drawingml/2006/main">
          <a:srgbClr val="F8F8F4"/>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4DC6647-A5FB-4603-915D-F1FDC0A2F7B2}"/>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F"/>
                </a:solidFill>
                <a:latin typeface="Helvetica Neue"/>
                <a:ea typeface="Helvetica Neue"/>
                <a:cs typeface="Helvetica Neue"/>
              </a:defRPr>
            </a:pPr>
            <a:r>
              <a:rPr sz="3450" b="1">
                <a:solidFill>
                  <a:srgbClr val="172F3F"/>
                </a:solidFill>
                <a:latin typeface="Helvetica Neue"/>
                <a:ea typeface="Helvetica Neue"/>
                <a:cs typeface="Helvetica Neue"/>
              </a:rPr>
              <a:t>xrpl.js</a:t>
            </a:r>
          </a:p>
          <a:p xmlns:a="http://schemas.openxmlformats.org/drawingml/2006/main">
            <a:pPr>
              <a:defRPr sz="3450" b="1">
                <a:solidFill>
                  <a:srgbClr val="172F3F"/>
                </a:solidFill>
                <a:latin typeface="Helvetica Neue"/>
                <a:ea typeface="Helvetica Neue"/>
                <a:cs typeface="Helvetica Neue"/>
              </a:defRPr>
            </a:pPr>
            <a:r>
              <a:rPr sz="3450" b="1">
                <a:solidFill>
                  <a:srgbClr val="172F3F"/>
                </a:solidFill>
                <a:latin typeface="Helvetica Neue"/>
                <a:ea typeface="Helvetica Neue"/>
                <a:cs typeface="Helvetica Neue"/>
              </a:rPr>
              <a:t>Developer experience audit</a:t>
            </a:r>
          </a:p>
        </p:txBody>
      </p:sp>
      <p:sp>
        <p:nvSpPr>
          <p:cNvPr id="2" name="">
            <a:extLst xmlns:a="http://schemas.openxmlformats.org/drawingml/2006/main">
              <a:ext uri="{FF2B5EF4-FFF2-40B4-BE49-F238E27FC236}">
                <a16:creationId xmlns:a16="http://schemas.microsoft.com/office/drawing/2014/main" id="{CC2A514F-FE72-4576-9CAE-EF0E61A8ED16}"/>
              </a:ext>
            </a:extLst>
          </p:cNvPr>
          <p:cNvSpPr>
            <a:spLocks xmlns:a="http://schemas.openxmlformats.org/drawingml/2006/main" noGrp="1"/>
          </p:cNvSpPr>
          <p:nvPr/>
        </p:nvSpPr>
        <p:spPr>
          <a:xfrm xmlns:a="http://schemas.openxmlformats.org/drawingml/2006/main">
            <a:off x="685800" y="62865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471"/>
                </a:solidFill>
                <a:latin typeface="Helvetica Neue"/>
                <a:ea typeface="Helvetica Neue"/>
                <a:cs typeface="Helvetica Neue"/>
              </a:defRPr>
            </a:pPr>
            <a:r>
              <a:rPr sz="1350" b="0">
                <a:solidFill>
                  <a:srgbClr val="506471"/>
                </a:solidFill>
                <a:latin typeface="Helvetica Neue"/>
                <a:ea typeface="Helvetica Neue"/>
                <a:cs typeface="Helvetica Neue"/>
              </a:rPr>
              <a:t>aha   /   Ripple DevRel   /   1</a:t>
            </a:r>
          </a:p>
        </p:txBody>
      </p:sp>
      <p:sp>
        <p:nvSpPr>
          <p:cNvPr id="3" name="">
            <a:extLst xmlns:a="http://schemas.openxmlformats.org/drawingml/2006/main">
              <a:ext uri="{FF2B5EF4-FFF2-40B4-BE49-F238E27FC236}">
                <a16:creationId xmlns:a16="http://schemas.microsoft.com/office/drawing/2014/main" id="{8F017D5F-3DBD-482F-B171-18C2C336B9A4}"/>
              </a:ext>
            </a:extLst>
          </p:cNvPr>
          <p:cNvSpPr>
            <a:spLocks xmlns:a="http://schemas.openxmlformats.org/drawingml/2006/main" noGrp="1"/>
          </p:cNvSpPr>
          <p:nvPr/>
        </p:nvSpPr>
        <p:spPr>
          <a:xfrm xmlns:a="http://schemas.openxmlformats.org/drawingml/2006/main">
            <a:off x="685800" y="2724150"/>
            <a:ext cx="10096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D7479"/>
                </a:solidFill>
                <a:latin typeface="Helvetica Neue"/>
                <a:ea typeface="Helvetica Neue"/>
                <a:cs typeface="Helvetica Neue"/>
              </a:defRPr>
            </a:pPr>
            <a:r>
              <a:rPr sz="2850" b="0">
                <a:solidFill>
                  <a:srgbClr val="1D7479"/>
                </a:solidFill>
                <a:latin typeface="Helvetica Neue"/>
                <a:ea typeface="Helvetica Neue"/>
                <a:cs typeface="Helvetica Neue"/>
              </a:rPr>
              <a:t>An SDK that helps developers learn</a:t>
            </a:r>
          </a:p>
          <a:p xmlns:a="http://schemas.openxmlformats.org/drawingml/2006/main">
            <a:pPr>
              <a:defRPr sz="2850" b="0">
                <a:solidFill>
                  <a:srgbClr val="1D7479"/>
                </a:solidFill>
                <a:latin typeface="Helvetica Neue"/>
                <a:ea typeface="Helvetica Neue"/>
                <a:cs typeface="Helvetica Neue"/>
              </a:defRPr>
            </a:pPr>
            <a:r>
              <a:rPr sz="2850" b="0">
                <a:solidFill>
                  <a:srgbClr val="1D7479"/>
                </a:solidFill>
                <a:latin typeface="Helvetica Neue"/>
                <a:ea typeface="Helvetica Neue"/>
                <a:cs typeface="Helvetica Neue"/>
              </a:rPr>
              <a:t>and get the next step right</a:t>
            </a:r>
          </a:p>
        </p:txBody>
      </p:sp>
      <p:sp>
        <p:nvSpPr>
          <p:cNvPr id="4" name="">
            <a:extLst xmlns:a="http://schemas.openxmlformats.org/drawingml/2006/main">
              <a:ext uri="{FF2B5EF4-FFF2-40B4-BE49-F238E27FC236}">
                <a16:creationId xmlns:a16="http://schemas.microsoft.com/office/drawing/2014/main" id="{7ED9E48E-6E84-4DF7-B453-2612E9388252}"/>
              </a:ext>
            </a:extLst>
          </p:cNvPr>
          <p:cNvSpPr>
            <a:spLocks xmlns:a="http://schemas.openxmlformats.org/drawingml/2006/main" noGrp="1"/>
          </p:cNvSpPr>
          <p:nvPr/>
        </p:nvSpPr>
        <p:spPr>
          <a:xfrm xmlns:a="http://schemas.openxmlformats.org/drawingml/2006/main">
            <a:off x="685800" y="4819650"/>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471"/>
                </a:solidFill>
                <a:latin typeface="Helvetica Neue"/>
                <a:ea typeface="Helvetica Neue"/>
                <a:cs typeface="Helvetica Neue"/>
              </a:defRPr>
            </a:pPr>
            <a:r>
              <a:rPr sz="1950" b="0">
                <a:solidFill>
                  <a:srgbClr val="506471"/>
                </a:solidFill>
                <a:latin typeface="Helvetica Neue"/>
                <a:ea typeface="Helvetica Neue"/>
                <a:cs typeface="Helvetica Neue"/>
              </a:rPr>
              <a:t>Published xrpl 5.3.0</a:t>
            </a:r>
          </a:p>
          <a:p xmlns:a="http://schemas.openxmlformats.org/drawingml/2006/main">
            <a:pPr>
              <a:defRPr sz="1950" b="0">
                <a:solidFill>
                  <a:srgbClr val="506471"/>
                </a:solidFill>
                <a:latin typeface="Helvetica Neue"/>
                <a:ea typeface="Helvetica Neue"/>
                <a:cs typeface="Helvetica Neue"/>
              </a:defRPr>
            </a:pPr>
            <a:r>
              <a:rPr sz="1950" b="0">
                <a:solidFill>
                  <a:srgbClr val="506471"/>
                </a:solidFill>
                <a:latin typeface="Helvetica Neue"/>
                <a:ea typeface="Helvetica Neue"/>
                <a:cs typeface="Helvetica Neue"/>
              </a:rPr>
              <a:t>22 September 2026</a:t>
            </a:r>
          </a:p>
        </p:txBody>
      </p:sp>
    </p:spTree>
    <p:extLst>
      <p:ext uri="{BB962C8B-B14F-4D97-AF65-F5344CB8AC3E}">
        <p14:creationId xmlns:p14="http://schemas.microsoft.com/office/powerpoint/2010/main" val="414787687"/>
      </p:ext>
    </p:extLst>
  </p:cSld>
</p:sld>
</file>

<file path=ppt/slides/slide2.xml><?xml version="1.0" encoding="utf-8"?>
<p:sld xmlns:p="http://schemas.openxmlformats.org/presentationml/2006/main">
  <p:cSld>
    <p:bg>
      <p:bgPr>
        <a:solidFill xmlns:a="http://schemas.openxmlformats.org/drawingml/2006/main">
          <a:srgbClr val="F8F8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ED27F01-604B-4D48-938E-6D753B58CB06}"/>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F"/>
                </a:solidFill>
                <a:latin typeface="Helvetica Neue"/>
                <a:ea typeface="Helvetica Neue"/>
                <a:cs typeface="Helvetica Neue"/>
              </a:defRPr>
            </a:pPr>
            <a:r>
              <a:rPr sz="3450" b="1">
                <a:solidFill>
                  <a:srgbClr val="172F3F"/>
                </a:solidFill>
                <a:latin typeface="Helvetica Neue"/>
                <a:ea typeface="Helvetica Neue"/>
                <a:cs typeface="Helvetica Neue"/>
              </a:rPr>
              <a:t>What the audit establishes</a:t>
            </a:r>
          </a:p>
        </p:txBody>
      </p:sp>
      <p:sp>
        <p:nvSpPr>
          <p:cNvPr id="2" name="">
            <a:extLst xmlns:a="http://schemas.openxmlformats.org/drawingml/2006/main">
              <a:ext uri="{FF2B5EF4-FFF2-40B4-BE49-F238E27FC236}">
                <a16:creationId xmlns:a16="http://schemas.microsoft.com/office/drawing/2014/main" id="{59C453BE-30A6-4816-A12D-B7AEABD523E8}"/>
              </a:ext>
            </a:extLst>
          </p:cNvPr>
          <p:cNvSpPr>
            <a:spLocks xmlns:a="http://schemas.openxmlformats.org/drawingml/2006/main" noGrp="1"/>
          </p:cNvSpPr>
          <p:nvPr/>
        </p:nvSpPr>
        <p:spPr>
          <a:xfrm xmlns:a="http://schemas.openxmlformats.org/drawingml/2006/main">
            <a:off x="685800" y="15811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06471"/>
                </a:solidFill>
                <a:latin typeface="Helvetica Neue"/>
                <a:ea typeface="Helvetica Neue"/>
                <a:cs typeface="Helvetica Neue"/>
              </a:defRPr>
            </a:pPr>
            <a:r>
              <a:rPr sz="2025" b="0">
                <a:solidFill>
                  <a:srgbClr val="506471"/>
                </a:solidFill>
                <a:latin typeface="Helvetica Neue"/>
                <a:ea typeface="Helvetica Neue"/>
                <a:cs typeface="Helvetica Neue"/>
              </a:rPr>
              <a:t>Complete inventory, selective deep evidence, explicit limits</a:t>
            </a:r>
          </a:p>
        </p:txBody>
      </p:sp>
      <p:sp>
        <p:nvSpPr>
          <p:cNvPr id="3" name="">
            <a:extLst xmlns:a="http://schemas.openxmlformats.org/drawingml/2006/main">
              <a:ext uri="{FF2B5EF4-FFF2-40B4-BE49-F238E27FC236}">
                <a16:creationId xmlns:a16="http://schemas.microsoft.com/office/drawing/2014/main" id="{3E894DF9-964A-48B3-A778-AB541240A9E1}"/>
              </a:ext>
            </a:extLst>
          </p:cNvPr>
          <p:cNvSpPr>
            <a:spLocks xmlns:a="http://schemas.openxmlformats.org/drawingml/2006/main" noGrp="1"/>
          </p:cNvSpPr>
          <p:nvPr/>
        </p:nvSpPr>
        <p:spPr>
          <a:xfrm xmlns:a="http://schemas.openxmlformats.org/drawingml/2006/main">
            <a:off x="685800" y="62865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471"/>
                </a:solidFill>
                <a:latin typeface="Helvetica Neue"/>
                <a:ea typeface="Helvetica Neue"/>
                <a:cs typeface="Helvetica Neue"/>
              </a:defRPr>
            </a:pPr>
            <a:r>
              <a:rPr sz="1350" b="0">
                <a:solidFill>
                  <a:srgbClr val="506471"/>
                </a:solidFill>
                <a:latin typeface="Helvetica Neue"/>
                <a:ea typeface="Helvetica Neue"/>
                <a:cs typeface="Helvetica Neue"/>
              </a:rPr>
              <a:t>aha   /   Ripple DevRel   /   2</a:t>
            </a:r>
          </a:p>
        </p:txBody>
      </p:sp>
      <p:sp>
        <p:nvSpPr>
          <p:cNvPr id="4" name="">
            <a:extLst xmlns:a="http://schemas.openxmlformats.org/drawingml/2006/main">
              <a:ext uri="{FF2B5EF4-FFF2-40B4-BE49-F238E27FC236}">
                <a16:creationId xmlns:a16="http://schemas.microsoft.com/office/drawing/2014/main" id="{FDCEF594-BD87-49CC-8E9E-EC5653FDFF5C}"/>
              </a:ext>
            </a:extLst>
          </p:cNvPr>
          <p:cNvSpPr>
            <a:spLocks xmlns:a="http://schemas.openxmlformats.org/drawingml/2006/main" noGrp="1"/>
          </p:cNvSpPr>
          <p:nvPr/>
        </p:nvSpPr>
        <p:spPr>
          <a:xfrm xmlns:a="http://schemas.openxmlformats.org/drawingml/2006/main">
            <a:off x="685800" y="26289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00" b="1">
                <a:solidFill>
                  <a:srgbClr val="1D7479"/>
                </a:solidFill>
                <a:latin typeface="Helvetica Neue"/>
                <a:ea typeface="Helvetica Neue"/>
                <a:cs typeface="Helvetica Neue"/>
              </a:defRPr>
            </a:pPr>
            <a:r>
              <a:rPr sz="6300" b="1">
                <a:solidFill>
                  <a:srgbClr val="1D7479"/>
                </a:solidFill>
                <a:latin typeface="Helvetica Neue"/>
                <a:ea typeface="Helvetica Neue"/>
                <a:cs typeface="Helvetica Neue"/>
              </a:rPr>
              <a:t>447</a:t>
            </a:r>
          </a:p>
        </p:txBody>
      </p:sp>
      <p:sp>
        <p:nvSpPr>
          <p:cNvPr id="5" name="">
            <a:extLst xmlns:a="http://schemas.openxmlformats.org/drawingml/2006/main">
              <a:ext uri="{FF2B5EF4-FFF2-40B4-BE49-F238E27FC236}">
                <a16:creationId xmlns:a16="http://schemas.microsoft.com/office/drawing/2014/main" id="{C3CB2F5B-EA4E-450B-93F4-CB25EEDB3118}"/>
              </a:ext>
            </a:extLst>
          </p:cNvPr>
          <p:cNvSpPr>
            <a:spLocks xmlns:a="http://schemas.openxmlformats.org/drawingml/2006/main" noGrp="1"/>
          </p:cNvSpPr>
          <p:nvPr/>
        </p:nvSpPr>
        <p:spPr>
          <a:xfrm xmlns:a="http://schemas.openxmlformats.org/drawingml/2006/main">
            <a:off x="685800" y="3829050"/>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F3F"/>
                </a:solidFill>
                <a:latin typeface="Helvetica Neue"/>
                <a:ea typeface="Helvetica Neue"/>
                <a:cs typeface="Helvetica Neue"/>
              </a:defRPr>
            </a:pPr>
            <a:r>
              <a:rPr sz="2250" b="0">
                <a:solidFill>
                  <a:srgbClr val="172F3F"/>
                </a:solidFill>
                <a:latin typeface="Helvetica Neue"/>
                <a:ea typeface="Helvetica Neue"/>
                <a:cs typeface="Helvetica Neue"/>
              </a:rPr>
              <a:t>Public root exports</a:t>
            </a:r>
          </a:p>
          <a:p xmlns:a="http://schemas.openxmlformats.org/drawingml/2006/main">
            <a:pPr>
              <a:defRPr sz="2250" b="0">
                <a:solidFill>
                  <a:srgbClr val="172F3F"/>
                </a:solidFill>
                <a:latin typeface="Helvetica Neue"/>
                <a:ea typeface="Helvetica Neue"/>
                <a:cs typeface="Helvetica Neue"/>
              </a:defRPr>
            </a:pPr>
            <a:r>
              <a:rPr sz="2250" b="0">
                <a:solidFill>
                  <a:srgbClr val="172F3F"/>
                </a:solidFill>
                <a:latin typeface="Helvetica Neue"/>
                <a:ea typeface="Helvetica Neue"/>
                <a:cs typeface="Helvetica Neue"/>
              </a:rPr>
              <a:t>18 API families</a:t>
            </a:r>
          </a:p>
        </p:txBody>
      </p:sp>
      <p:sp>
        <p:nvSpPr>
          <p:cNvPr id="6" name="">
            <a:extLst xmlns:a="http://schemas.openxmlformats.org/drawingml/2006/main">
              <a:ext uri="{FF2B5EF4-FFF2-40B4-BE49-F238E27FC236}">
                <a16:creationId xmlns:a16="http://schemas.microsoft.com/office/drawing/2014/main" id="{EEA596D5-111A-4891-BF57-B8723BD8F81A}"/>
              </a:ext>
            </a:extLst>
          </p:cNvPr>
          <p:cNvSpPr>
            <a:spLocks xmlns:a="http://schemas.openxmlformats.org/drawingml/2006/main" noGrp="1"/>
          </p:cNvSpPr>
          <p:nvPr/>
        </p:nvSpPr>
        <p:spPr>
          <a:xfrm xmlns:a="http://schemas.openxmlformats.org/drawingml/2006/main">
            <a:off x="4448175" y="26289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00" b="1">
                <a:solidFill>
                  <a:srgbClr val="1D7479"/>
                </a:solidFill>
                <a:latin typeface="Helvetica Neue"/>
                <a:ea typeface="Helvetica Neue"/>
                <a:cs typeface="Helvetica Neue"/>
              </a:defRPr>
            </a:pPr>
            <a:r>
              <a:rPr sz="6300" b="1">
                <a:solidFill>
                  <a:srgbClr val="1D7479"/>
                </a:solidFill>
                <a:latin typeface="Helvetica Neue"/>
                <a:ea typeface="Helvetica Neue"/>
                <a:cs typeface="Helvetica Neue"/>
              </a:rPr>
              <a:t>7</a:t>
            </a:r>
          </a:p>
        </p:txBody>
      </p:sp>
      <p:sp>
        <p:nvSpPr>
          <p:cNvPr id="7" name="">
            <a:extLst xmlns:a="http://schemas.openxmlformats.org/drawingml/2006/main">
              <a:ext uri="{FF2B5EF4-FFF2-40B4-BE49-F238E27FC236}">
                <a16:creationId xmlns:a16="http://schemas.microsoft.com/office/drawing/2014/main" id="{E0938893-E763-4B72-B252-25DF7840EA33}"/>
              </a:ext>
            </a:extLst>
          </p:cNvPr>
          <p:cNvSpPr>
            <a:spLocks xmlns:a="http://schemas.openxmlformats.org/drawingml/2006/main" noGrp="1"/>
          </p:cNvSpPr>
          <p:nvPr/>
        </p:nvSpPr>
        <p:spPr>
          <a:xfrm xmlns:a="http://schemas.openxmlformats.org/drawingml/2006/main">
            <a:off x="4448175" y="3829050"/>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F3F"/>
                </a:solidFill>
                <a:latin typeface="Helvetica Neue"/>
                <a:ea typeface="Helvetica Neue"/>
                <a:cs typeface="Helvetica Neue"/>
              </a:defRPr>
            </a:pPr>
            <a:r>
              <a:rPr sz="2250" b="0">
                <a:solidFill>
                  <a:srgbClr val="172F3F"/>
                </a:solidFill>
                <a:latin typeface="Helvetica Neue"/>
                <a:ea typeface="Helvetica Neue"/>
                <a:cs typeface="Helvetica Neue"/>
              </a:rPr>
              <a:t>Existing TypeScript</a:t>
            </a:r>
          </a:p>
          <a:p xmlns:a="http://schemas.openxmlformats.org/drawingml/2006/main">
            <a:pPr>
              <a:defRPr sz="2250" b="0">
                <a:solidFill>
                  <a:srgbClr val="172F3F"/>
                </a:solidFill>
                <a:latin typeface="Helvetica Neue"/>
                <a:ea typeface="Helvetica Neue"/>
                <a:cs typeface="Helvetica Neue"/>
              </a:defRPr>
            </a:pPr>
            <a:r>
              <a:rPr sz="2250" b="0">
                <a:solidFill>
                  <a:srgbClr val="172F3F"/>
                </a:solidFill>
                <a:latin typeface="Helvetica Neue"/>
                <a:ea typeface="Helvetica Neue"/>
                <a:cs typeface="Helvetica Neue"/>
              </a:rPr>
              <a:t>example families</a:t>
            </a:r>
          </a:p>
        </p:txBody>
      </p:sp>
      <p:sp>
        <p:nvSpPr>
          <p:cNvPr id="8" name="">
            <a:extLst xmlns:a="http://schemas.openxmlformats.org/drawingml/2006/main">
              <a:ext uri="{FF2B5EF4-FFF2-40B4-BE49-F238E27FC236}">
                <a16:creationId xmlns:a16="http://schemas.microsoft.com/office/drawing/2014/main" id="{6F20A4CF-5D55-4091-88E9-4025DEFE8A1E}"/>
              </a:ext>
            </a:extLst>
          </p:cNvPr>
          <p:cNvSpPr>
            <a:spLocks xmlns:a="http://schemas.openxmlformats.org/drawingml/2006/main" noGrp="1"/>
          </p:cNvSpPr>
          <p:nvPr/>
        </p:nvSpPr>
        <p:spPr>
          <a:xfrm xmlns:a="http://schemas.openxmlformats.org/drawingml/2006/main">
            <a:off x="8210550" y="26289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00" b="1">
                <a:solidFill>
                  <a:srgbClr val="1D7479"/>
                </a:solidFill>
                <a:latin typeface="Helvetica Neue"/>
                <a:ea typeface="Helvetica Neue"/>
                <a:cs typeface="Helvetica Neue"/>
              </a:defRPr>
            </a:pPr>
            <a:r>
              <a:rPr sz="6300" b="1">
                <a:solidFill>
                  <a:srgbClr val="1D7479"/>
                </a:solidFill>
                <a:latin typeface="Helvetica Neue"/>
                <a:ea typeface="Helvetica Neue"/>
                <a:cs typeface="Helvetica Neue"/>
              </a:rPr>
              <a:t>4</a:t>
            </a:r>
          </a:p>
        </p:txBody>
      </p:sp>
      <p:sp>
        <p:nvSpPr>
          <p:cNvPr id="9" name="">
            <a:extLst xmlns:a="http://schemas.openxmlformats.org/drawingml/2006/main">
              <a:ext uri="{FF2B5EF4-FFF2-40B4-BE49-F238E27FC236}">
                <a16:creationId xmlns:a16="http://schemas.microsoft.com/office/drawing/2014/main" id="{43FECCF2-21BD-43C0-A5DA-49E8A87A21B2}"/>
              </a:ext>
            </a:extLst>
          </p:cNvPr>
          <p:cNvSpPr>
            <a:spLocks xmlns:a="http://schemas.openxmlformats.org/drawingml/2006/main" noGrp="1"/>
          </p:cNvSpPr>
          <p:nvPr/>
        </p:nvSpPr>
        <p:spPr>
          <a:xfrm xmlns:a="http://schemas.openxmlformats.org/drawingml/2006/main">
            <a:off x="8210550" y="3829050"/>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F3F"/>
                </a:solidFill>
                <a:latin typeface="Helvetica Neue"/>
                <a:ea typeface="Helvetica Neue"/>
                <a:cs typeface="Helvetica Neue"/>
              </a:defRPr>
            </a:pPr>
            <a:r>
              <a:rPr sz="2250" b="0">
                <a:solidFill>
                  <a:srgbClr val="172F3F"/>
                </a:solidFill>
                <a:latin typeface="Helvetica Neue"/>
                <a:ea typeface="Helvetica Neue"/>
                <a:cs typeface="Helvetica Neue"/>
              </a:rPr>
              <a:t>Improved journeys</a:t>
            </a:r>
          </a:p>
          <a:p xmlns:a="http://schemas.openxmlformats.org/drawingml/2006/main">
            <a:pPr>
              <a:defRPr sz="2250" b="0">
                <a:solidFill>
                  <a:srgbClr val="172F3F"/>
                </a:solidFill>
                <a:latin typeface="Helvetica Neue"/>
                <a:ea typeface="Helvetica Neue"/>
                <a:cs typeface="Helvetica Neue"/>
              </a:defRPr>
            </a:pPr>
            <a:r>
              <a:rPr sz="2250" b="0">
                <a:solidFill>
                  <a:srgbClr val="172F3F"/>
                </a:solidFill>
                <a:latin typeface="Helvetica Neue"/>
                <a:ea typeface="Helvetica Neue"/>
                <a:cs typeface="Helvetica Neue"/>
              </a:rPr>
              <a:t>run on a local ledger</a:t>
            </a:r>
          </a:p>
        </p:txBody>
      </p:sp>
      <p:sp>
        <p:nvSpPr>
          <p:cNvPr id="10" name="">
            <a:extLst xmlns:a="http://schemas.openxmlformats.org/drawingml/2006/main">
              <a:ext uri="{FF2B5EF4-FFF2-40B4-BE49-F238E27FC236}">
                <a16:creationId xmlns:a16="http://schemas.microsoft.com/office/drawing/2014/main" id="{10E9587E-B398-433B-81F4-D3298FFCA152}"/>
              </a:ext>
            </a:extLst>
          </p:cNvPr>
          <p:cNvSpPr>
            <a:spLocks xmlns:a="http://schemas.openxmlformats.org/drawingml/2006/main" noGrp="1"/>
          </p:cNvSpPr>
          <p:nvPr/>
        </p:nvSpPr>
        <p:spPr>
          <a:xfrm xmlns:a="http://schemas.openxmlformats.org/drawingml/2006/main">
            <a:off x="685800" y="54292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471"/>
                </a:solidFill>
                <a:latin typeface="Helvetica Neue"/>
                <a:ea typeface="Helvetica Neue"/>
                <a:cs typeface="Helvetica Neue"/>
              </a:defRPr>
            </a:pPr>
            <a:r>
              <a:rPr sz="1950" b="0">
                <a:solidFill>
                  <a:srgbClr val="506471"/>
                </a:solidFill>
                <a:latin typeface="Helvetica Neue"/>
                <a:ea typeface="Helvetica Neue"/>
                <a:cs typeface="Helvetica Neue"/>
              </a:rPr>
              <a:t>Compiler checks, editor hovers, source review and runtime checks are distinct evidence.</a:t>
            </a:r>
          </a:p>
        </p:txBody>
      </p:sp>
    </p:spTree>
    <p:extLst>
      <p:ext uri="{BB962C8B-B14F-4D97-AF65-F5344CB8AC3E}">
        <p14:creationId xmlns:p14="http://schemas.microsoft.com/office/powerpoint/2010/main" val="1961010258"/>
      </p:ext>
    </p:extLst>
  </p:cSld>
</p:sld>
</file>

<file path=ppt/slides/slide3.xml><?xml version="1.0" encoding="utf-8"?>
<p:sld xmlns:p="http://schemas.openxmlformats.org/presentationml/2006/main">
  <p:cSld>
    <p:bg>
      <p:bgPr>
        <a:solidFill xmlns:a="http://schemas.openxmlformats.org/drawingml/2006/main">
          <a:srgbClr val="F8F8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7840DB9-4AC4-49F6-9050-2EDD36CD59C6}"/>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F"/>
                </a:solidFill>
                <a:latin typeface="Helvetica Neue"/>
                <a:ea typeface="Helvetica Neue"/>
                <a:cs typeface="Helvetica Neue"/>
              </a:defRPr>
            </a:pPr>
            <a:r>
              <a:rPr sz="3450" b="1">
                <a:solidFill>
                  <a:srgbClr val="172F3F"/>
                </a:solidFill>
                <a:latin typeface="Helvetica Neue"/>
                <a:ea typeface="Helvetica Neue"/>
                <a:cs typeface="Helvetica Neue"/>
              </a:rPr>
              <a:t>Where guidance breaks</a:t>
            </a:r>
          </a:p>
        </p:txBody>
      </p:sp>
      <p:sp>
        <p:nvSpPr>
          <p:cNvPr id="2" name="">
            <a:extLst xmlns:a="http://schemas.openxmlformats.org/drawingml/2006/main">
              <a:ext uri="{FF2B5EF4-FFF2-40B4-BE49-F238E27FC236}">
                <a16:creationId xmlns:a16="http://schemas.microsoft.com/office/drawing/2014/main" id="{3702F749-AF88-458D-9927-B054DF33EA25}"/>
              </a:ext>
            </a:extLst>
          </p:cNvPr>
          <p:cNvSpPr>
            <a:spLocks xmlns:a="http://schemas.openxmlformats.org/drawingml/2006/main" noGrp="1"/>
          </p:cNvSpPr>
          <p:nvPr/>
        </p:nvSpPr>
        <p:spPr>
          <a:xfrm xmlns:a="http://schemas.openxmlformats.org/drawingml/2006/main">
            <a:off x="685800" y="62865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471"/>
                </a:solidFill>
                <a:latin typeface="Helvetica Neue"/>
                <a:ea typeface="Helvetica Neue"/>
                <a:cs typeface="Helvetica Neue"/>
              </a:defRPr>
            </a:pPr>
            <a:r>
              <a:rPr sz="1350" b="0">
                <a:solidFill>
                  <a:srgbClr val="506471"/>
                </a:solidFill>
                <a:latin typeface="Helvetica Neue"/>
                <a:ea typeface="Helvetica Neue"/>
                <a:cs typeface="Helvetica Neue"/>
              </a:rPr>
              <a:t>aha   /   Ripple DevRel   /   3</a:t>
            </a:r>
          </a:p>
        </p:txBody>
      </p:sp>
      <p:sp>
        <p:nvSpPr>
          <p:cNvPr id="3" name="">
            <a:extLst xmlns:a="http://schemas.openxmlformats.org/drawingml/2006/main">
              <a:ext uri="{FF2B5EF4-FFF2-40B4-BE49-F238E27FC236}">
                <a16:creationId xmlns:a16="http://schemas.microsoft.com/office/drawing/2014/main" id="{B9F64E1B-4982-4038-9F25-A34C78B61846}"/>
              </a:ext>
            </a:extLst>
          </p:cNvPr>
          <p:cNvSpPr>
            <a:spLocks xmlns:a="http://schemas.openxmlformats.org/drawingml/2006/main" noGrp="1"/>
          </p:cNvSpPr>
          <p:nvPr/>
        </p:nvSpPr>
        <p:spPr>
          <a:xfrm xmlns:a="http://schemas.openxmlformats.org/drawingml/2006/main">
            <a:off x="685800" y="2095500"/>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D7479"/>
                </a:solidFill>
                <a:latin typeface="Helvetica Neue"/>
                <a:ea typeface="Helvetica Neue"/>
                <a:cs typeface="Helvetica Neue"/>
              </a:defRPr>
            </a:pPr>
            <a:r>
              <a:rPr sz="2325" b="1">
                <a:solidFill>
                  <a:srgbClr val="1D7479"/>
                </a:solidFill>
                <a:latin typeface="Helvetica Neue"/>
                <a:ea typeface="Helvetica Neue"/>
                <a:cs typeface="Helvetica Neue"/>
              </a:rPr>
              <a:t>Discover</a:t>
            </a:r>
          </a:p>
        </p:txBody>
      </p:sp>
      <p:sp>
        <p:nvSpPr>
          <p:cNvPr id="4" name="">
            <a:extLst xmlns:a="http://schemas.openxmlformats.org/drawingml/2006/main">
              <a:ext uri="{FF2B5EF4-FFF2-40B4-BE49-F238E27FC236}">
                <a16:creationId xmlns:a16="http://schemas.microsoft.com/office/drawing/2014/main" id="{D7DC7F53-DA37-4CC3-B7E6-10520A8E1F6A}"/>
              </a:ext>
            </a:extLst>
          </p:cNvPr>
          <p:cNvSpPr>
            <a:spLocks xmlns:a="http://schemas.openxmlformats.org/drawingml/2006/main" noGrp="1"/>
          </p:cNvSpPr>
          <p:nvPr/>
        </p:nvSpPr>
        <p:spPr>
          <a:xfrm xmlns:a="http://schemas.openxmlformats.org/drawingml/2006/main">
            <a:off x="4000500" y="2095500"/>
            <a:ext cx="733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F3F"/>
                </a:solidFill>
                <a:latin typeface="Helvetica Neue"/>
                <a:ea typeface="Helvetica Neue"/>
                <a:cs typeface="Helvetica Neue"/>
              </a:defRPr>
            </a:pPr>
            <a:r>
              <a:rPr sz="2175" b="0">
                <a:solidFill>
                  <a:srgbClr val="172F3F"/>
                </a:solidFill>
                <a:latin typeface="Helvetica Neue"/>
                <a:ea typeface="Helvetica Neue"/>
                <a:cs typeface="Helvetica Neue"/>
              </a:rPr>
              <a:t>Existing documentation is missing from package hovers.</a:t>
            </a:r>
          </a:p>
        </p:txBody>
      </p:sp>
      <p:sp>
        <p:nvSpPr>
          <p:cNvPr id="5" name="">
            <a:extLst xmlns:a="http://schemas.openxmlformats.org/drawingml/2006/main">
              <a:ext uri="{FF2B5EF4-FFF2-40B4-BE49-F238E27FC236}">
                <a16:creationId xmlns:a16="http://schemas.microsoft.com/office/drawing/2014/main" id="{803F6A1C-762E-4FC3-9188-34A359E39DB3}"/>
              </a:ext>
            </a:extLst>
          </p:cNvPr>
          <p:cNvSpPr>
            <a:spLocks xmlns:a="http://schemas.openxmlformats.org/drawingml/2006/main" noGrp="1"/>
          </p:cNvSpPr>
          <p:nvPr/>
        </p:nvSpPr>
        <p:spPr>
          <a:xfrm xmlns:a="http://schemas.openxmlformats.org/drawingml/2006/main">
            <a:off x="685800" y="2990850"/>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D7479"/>
                </a:solidFill>
                <a:latin typeface="Helvetica Neue"/>
                <a:ea typeface="Helvetica Neue"/>
                <a:cs typeface="Helvetica Neue"/>
              </a:defRPr>
            </a:pPr>
            <a:r>
              <a:rPr sz="2325" b="1">
                <a:solidFill>
                  <a:srgbClr val="1D7479"/>
                </a:solidFill>
                <a:latin typeface="Helvetica Neue"/>
                <a:ea typeface="Helvetica Neue"/>
                <a:cs typeface="Helvetica Neue"/>
              </a:rPr>
              <a:t>Construct</a:t>
            </a:r>
          </a:p>
        </p:txBody>
      </p:sp>
      <p:sp>
        <p:nvSpPr>
          <p:cNvPr id="6" name="">
            <a:extLst xmlns:a="http://schemas.openxmlformats.org/drawingml/2006/main">
              <a:ext uri="{FF2B5EF4-FFF2-40B4-BE49-F238E27FC236}">
                <a16:creationId xmlns:a16="http://schemas.microsoft.com/office/drawing/2014/main" id="{114CB85C-43F6-41A8-89BE-7A5635769FC3}"/>
              </a:ext>
            </a:extLst>
          </p:cNvPr>
          <p:cNvSpPr>
            <a:spLocks xmlns:a="http://schemas.openxmlformats.org/drawingml/2006/main" noGrp="1"/>
          </p:cNvSpPr>
          <p:nvPr/>
        </p:nvSpPr>
        <p:spPr>
          <a:xfrm xmlns:a="http://schemas.openxmlformats.org/drawingml/2006/main">
            <a:off x="4000500" y="2990850"/>
            <a:ext cx="733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F3F"/>
                </a:solidFill>
                <a:latin typeface="Helvetica Neue"/>
                <a:ea typeface="Helvetica Neue"/>
                <a:cs typeface="Helvetica Neue"/>
              </a:defRPr>
            </a:pPr>
            <a:r>
              <a:rPr sz="2175" b="0">
                <a:solidFill>
                  <a:srgbClr val="172F3F"/>
                </a:solidFill>
                <a:latin typeface="Helvetica Neue"/>
                <a:ea typeface="Helvetica Neue"/>
                <a:cs typeface="Helvetica Neue"/>
              </a:rPr>
              <a:t>Misspelled optional fields can compile.</a:t>
            </a:r>
          </a:p>
        </p:txBody>
      </p:sp>
      <p:sp>
        <p:nvSpPr>
          <p:cNvPr id="7" name="">
            <a:extLst xmlns:a="http://schemas.openxmlformats.org/drawingml/2006/main">
              <a:ext uri="{FF2B5EF4-FFF2-40B4-BE49-F238E27FC236}">
                <a16:creationId xmlns:a16="http://schemas.microsoft.com/office/drawing/2014/main" id="{F8C02266-2AB7-4BAA-920E-74FD35795340}"/>
              </a:ext>
            </a:extLst>
          </p:cNvPr>
          <p:cNvSpPr>
            <a:spLocks xmlns:a="http://schemas.openxmlformats.org/drawingml/2006/main" noGrp="1"/>
          </p:cNvSpPr>
          <p:nvPr/>
        </p:nvSpPr>
        <p:spPr>
          <a:xfrm xmlns:a="http://schemas.openxmlformats.org/drawingml/2006/main">
            <a:off x="685800" y="3886200"/>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D7479"/>
                </a:solidFill>
                <a:latin typeface="Helvetica Neue"/>
                <a:ea typeface="Helvetica Neue"/>
                <a:cs typeface="Helvetica Neue"/>
              </a:defRPr>
            </a:pPr>
            <a:r>
              <a:rPr sz="2325" b="1">
                <a:solidFill>
                  <a:srgbClr val="1D7479"/>
                </a:solidFill>
                <a:latin typeface="Helvetica Neue"/>
                <a:ea typeface="Helvetica Neue"/>
                <a:cs typeface="Helvetica Neue"/>
              </a:rPr>
              <a:t>Prepare and sign</a:t>
            </a:r>
          </a:p>
        </p:txBody>
      </p:sp>
      <p:sp>
        <p:nvSpPr>
          <p:cNvPr id="8" name="">
            <a:extLst xmlns:a="http://schemas.openxmlformats.org/drawingml/2006/main">
              <a:ext uri="{FF2B5EF4-FFF2-40B4-BE49-F238E27FC236}">
                <a16:creationId xmlns:a16="http://schemas.microsoft.com/office/drawing/2014/main" id="{11CF92D3-65AC-462A-BA46-D3E9AEFD6EF1}"/>
              </a:ext>
            </a:extLst>
          </p:cNvPr>
          <p:cNvSpPr>
            <a:spLocks xmlns:a="http://schemas.openxmlformats.org/drawingml/2006/main" noGrp="1"/>
          </p:cNvSpPr>
          <p:nvPr/>
        </p:nvSpPr>
        <p:spPr>
          <a:xfrm xmlns:a="http://schemas.openxmlformats.org/drawingml/2006/main">
            <a:off x="4000500" y="3886200"/>
            <a:ext cx="733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F3F"/>
                </a:solidFill>
                <a:latin typeface="Helvetica Neue"/>
                <a:ea typeface="Helvetica Neue"/>
                <a:cs typeface="Helvetica Neue"/>
              </a:defRPr>
            </a:pPr>
            <a:r>
              <a:rPr sz="2175" b="0">
                <a:solidFill>
                  <a:srgbClr val="172F3F"/>
                </a:solidFill>
                <a:latin typeface="Helvetica Neue"/>
                <a:ea typeface="Helvetica Neue"/>
                <a:cs typeface="Helvetica Neue"/>
              </a:rPr>
              <a:t>Known fields and transaction identity disappear.</a:t>
            </a:r>
          </a:p>
        </p:txBody>
      </p:sp>
      <p:sp>
        <p:nvSpPr>
          <p:cNvPr id="9" name="">
            <a:extLst xmlns:a="http://schemas.openxmlformats.org/drawingml/2006/main">
              <a:ext uri="{FF2B5EF4-FFF2-40B4-BE49-F238E27FC236}">
                <a16:creationId xmlns:a16="http://schemas.microsoft.com/office/drawing/2014/main" id="{D7BB1242-35EE-4EB5-8957-B0727C134FC5}"/>
              </a:ext>
            </a:extLst>
          </p:cNvPr>
          <p:cNvSpPr>
            <a:spLocks xmlns:a="http://schemas.openxmlformats.org/drawingml/2006/main" noGrp="1"/>
          </p:cNvSpPr>
          <p:nvPr/>
        </p:nvSpPr>
        <p:spPr>
          <a:xfrm xmlns:a="http://schemas.openxmlformats.org/drawingml/2006/main">
            <a:off x="685800" y="4781550"/>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D7479"/>
                </a:solidFill>
                <a:latin typeface="Helvetica Neue"/>
                <a:ea typeface="Helvetica Neue"/>
                <a:cs typeface="Helvetica Neue"/>
              </a:defRPr>
            </a:pPr>
            <a:r>
              <a:rPr sz="2325" b="1">
                <a:solidFill>
                  <a:srgbClr val="1D7479"/>
                </a:solidFill>
                <a:latin typeface="Helvetica Neue"/>
                <a:ea typeface="Helvetica Neue"/>
                <a:cs typeface="Helvetica Neue"/>
              </a:rPr>
              <a:t>Query and confirm</a:t>
            </a:r>
          </a:p>
        </p:txBody>
      </p:sp>
      <p:sp>
        <p:nvSpPr>
          <p:cNvPr id="10" name="">
            <a:extLst xmlns:a="http://schemas.openxmlformats.org/drawingml/2006/main">
              <a:ext uri="{FF2B5EF4-FFF2-40B4-BE49-F238E27FC236}">
                <a16:creationId xmlns:a16="http://schemas.microsoft.com/office/drawing/2014/main" id="{C66893E6-D6F2-4801-B618-4B298FA93515}"/>
              </a:ext>
            </a:extLst>
          </p:cNvPr>
          <p:cNvSpPr>
            <a:spLocks xmlns:a="http://schemas.openxmlformats.org/drawingml/2006/main" noGrp="1"/>
          </p:cNvSpPr>
          <p:nvPr/>
        </p:nvSpPr>
        <p:spPr>
          <a:xfrm xmlns:a="http://schemas.openxmlformats.org/drawingml/2006/main">
            <a:off x="4000500" y="4781550"/>
            <a:ext cx="733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F3F"/>
                </a:solidFill>
                <a:latin typeface="Helvetica Neue"/>
                <a:ea typeface="Helvetica Neue"/>
                <a:cs typeface="Helvetica Neue"/>
              </a:defRPr>
            </a:pPr>
            <a:r>
              <a:rPr sz="2175" b="0">
                <a:solidFill>
                  <a:srgbClr val="172F3F"/>
                </a:solidFill>
                <a:latin typeface="Helvetica Neue"/>
                <a:ea typeface="Helvetica Neue"/>
                <a:cs typeface="Helvetica Neue"/>
              </a:rPr>
              <a:t>Specific intent returns broad or uncertain answers.</a:t>
            </a:r>
          </a:p>
        </p:txBody>
      </p:sp>
    </p:spTree>
    <p:extLst>
      <p:ext uri="{BB962C8B-B14F-4D97-AF65-F5344CB8AC3E}">
        <p14:creationId xmlns:p14="http://schemas.microsoft.com/office/powerpoint/2010/main" val="1276441152"/>
      </p:ext>
    </p:extLst>
  </p:cSld>
</p:sld>
</file>

<file path=ppt/slides/slide4.xml><?xml version="1.0" encoding="utf-8"?>
<p:sld xmlns:p="http://schemas.openxmlformats.org/presentationml/2006/main">
  <p:cSld>
    <p:bg>
      <p:bgPr>
        <a:solidFill xmlns:a="http://schemas.openxmlformats.org/drawingml/2006/main">
          <a:srgbClr val="F8F8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05FA34A-1908-48DA-99D1-6D79A257D8C0}"/>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F"/>
                </a:solidFill>
                <a:latin typeface="Helvetica Neue"/>
                <a:ea typeface="Helvetica Neue"/>
                <a:cs typeface="Helvetica Neue"/>
              </a:defRPr>
            </a:pPr>
            <a:r>
              <a:rPr sz="3450" b="1">
                <a:solidFill>
                  <a:srgbClr val="172F3F"/>
                </a:solidFill>
                <a:latin typeface="Helvetica Neue"/>
                <a:ea typeface="Helvetica Neue"/>
                <a:cs typeface="Helvetica Neue"/>
              </a:rPr>
              <a:t>Put guidance back in the editor</a:t>
            </a:r>
          </a:p>
        </p:txBody>
      </p:sp>
      <p:sp>
        <p:nvSpPr>
          <p:cNvPr id="2" name="">
            <a:extLst xmlns:a="http://schemas.openxmlformats.org/drawingml/2006/main">
              <a:ext uri="{FF2B5EF4-FFF2-40B4-BE49-F238E27FC236}">
                <a16:creationId xmlns:a16="http://schemas.microsoft.com/office/drawing/2014/main" id="{C32F9F61-1738-4FD2-9E46-F8BF2094954D}"/>
              </a:ext>
            </a:extLst>
          </p:cNvPr>
          <p:cNvSpPr>
            <a:spLocks xmlns:a="http://schemas.openxmlformats.org/drawingml/2006/main" noGrp="1"/>
          </p:cNvSpPr>
          <p:nvPr/>
        </p:nvSpPr>
        <p:spPr>
          <a:xfrm xmlns:a="http://schemas.openxmlformats.org/drawingml/2006/main">
            <a:off x="685800" y="15811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06471"/>
                </a:solidFill>
                <a:latin typeface="Helvetica Neue"/>
                <a:ea typeface="Helvetica Neue"/>
                <a:cs typeface="Helvetica Neue"/>
              </a:defRPr>
            </a:pPr>
            <a:r>
              <a:rPr sz="2025" b="0">
                <a:solidFill>
                  <a:srgbClr val="506471"/>
                </a:solidFill>
                <a:latin typeface="Helvetica Neue"/>
                <a:ea typeface="Helvetica Neue"/>
                <a:cs typeface="Helvetica Neue"/>
              </a:rPr>
              <a:t>The installed package should carry the knowledge already in the source</a:t>
            </a:r>
          </a:p>
        </p:txBody>
      </p:sp>
      <p:sp>
        <p:nvSpPr>
          <p:cNvPr id="3" name="">
            <a:extLst xmlns:a="http://schemas.openxmlformats.org/drawingml/2006/main">
              <a:ext uri="{FF2B5EF4-FFF2-40B4-BE49-F238E27FC236}">
                <a16:creationId xmlns:a16="http://schemas.microsoft.com/office/drawing/2014/main" id="{8F8B1F41-4520-45BB-A7B5-C609AD767CE9}"/>
              </a:ext>
            </a:extLst>
          </p:cNvPr>
          <p:cNvSpPr>
            <a:spLocks xmlns:a="http://schemas.openxmlformats.org/drawingml/2006/main" noGrp="1"/>
          </p:cNvSpPr>
          <p:nvPr/>
        </p:nvSpPr>
        <p:spPr>
          <a:xfrm xmlns:a="http://schemas.openxmlformats.org/drawingml/2006/main">
            <a:off x="685800" y="62865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471"/>
                </a:solidFill>
                <a:latin typeface="Helvetica Neue"/>
                <a:ea typeface="Helvetica Neue"/>
                <a:cs typeface="Helvetica Neue"/>
              </a:defRPr>
            </a:pPr>
            <a:r>
              <a:rPr sz="1350" b="0">
                <a:solidFill>
                  <a:srgbClr val="506471"/>
                </a:solidFill>
                <a:latin typeface="Helvetica Neue"/>
                <a:ea typeface="Helvetica Neue"/>
                <a:cs typeface="Helvetica Neue"/>
              </a:rPr>
              <a:t>aha   /   Ripple DevRel   /   4</a:t>
            </a:r>
          </a:p>
        </p:txBody>
      </p:sp>
      <p:sp>
        <p:nvSpPr>
          <p:cNvPr id="4" name="">
            <a:extLst xmlns:a="http://schemas.openxmlformats.org/drawingml/2006/main">
              <a:ext uri="{FF2B5EF4-FFF2-40B4-BE49-F238E27FC236}">
                <a16:creationId xmlns:a16="http://schemas.microsoft.com/office/drawing/2014/main" id="{C0FA7E32-1135-41BD-AE0E-595FD5B04E1E}"/>
              </a:ext>
            </a:extLst>
          </p:cNvPr>
          <p:cNvSpPr>
            <a:spLocks xmlns:a="http://schemas.openxmlformats.org/drawingml/2006/main" noGrp="1"/>
          </p:cNvSpPr>
          <p:nvPr/>
        </p:nvSpPr>
        <p:spPr>
          <a:xfrm xmlns:a="http://schemas.openxmlformats.org/drawingml/2006/main">
            <a:off x="685800" y="25527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506471"/>
                </a:solidFill>
                <a:latin typeface="Helvetica Neue"/>
                <a:ea typeface="Helvetica Neue"/>
                <a:cs typeface="Helvetica Neue"/>
              </a:defRPr>
            </a:pPr>
            <a:r>
              <a:rPr sz="2025" b="1">
                <a:solidFill>
                  <a:srgbClr val="506471"/>
                </a:solidFill>
                <a:latin typeface="Helvetica Neue"/>
                <a:ea typeface="Helvetica Neue"/>
                <a:cs typeface="Helvetica Neue"/>
              </a:rPr>
              <a:t>Published package</a:t>
            </a:r>
          </a:p>
        </p:txBody>
      </p:sp>
      <p:sp>
        <p:nvSpPr>
          <p:cNvPr id="5" name="">
            <a:extLst xmlns:a="http://schemas.openxmlformats.org/drawingml/2006/main">
              <a:ext uri="{FF2B5EF4-FFF2-40B4-BE49-F238E27FC236}">
                <a16:creationId xmlns:a16="http://schemas.microsoft.com/office/drawing/2014/main" id="{D2156BCC-09A8-4FBB-B956-BE3BFCDC5041}"/>
              </a:ext>
            </a:extLst>
          </p:cNvPr>
          <p:cNvSpPr>
            <a:spLocks xmlns:a="http://schemas.openxmlformats.org/drawingml/2006/main" noGrp="1"/>
          </p:cNvSpPr>
          <p:nvPr/>
        </p:nvSpPr>
        <p:spPr>
          <a:xfrm xmlns:a="http://schemas.openxmlformats.org/drawingml/2006/main">
            <a:off x="685800" y="319087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F3F"/>
                </a:solidFill>
                <a:latin typeface="Menlo"/>
                <a:ea typeface="Menlo"/>
                <a:cs typeface="Menlo"/>
              </a:defRPr>
            </a:pPr>
            <a:r>
              <a:rPr sz="2175" b="0">
                <a:solidFill>
                  <a:srgbClr val="172F3F"/>
                </a:solidFill>
                <a:latin typeface="Menlo"/>
                <a:ea typeface="Menlo"/>
                <a:cs typeface="Menlo"/>
              </a:rPr>
              <a:t>client.request(...)</a:t>
            </a:r>
          </a:p>
        </p:txBody>
      </p:sp>
      <p:sp>
        <p:nvSpPr>
          <p:cNvPr id="6" name="">
            <a:extLst xmlns:a="http://schemas.openxmlformats.org/drawingml/2006/main">
              <a:ext uri="{FF2B5EF4-FFF2-40B4-BE49-F238E27FC236}">
                <a16:creationId xmlns:a16="http://schemas.microsoft.com/office/drawing/2014/main" id="{F8C9CEC0-1317-4C19-9DAB-6190ED58B534}"/>
              </a:ext>
            </a:extLst>
          </p:cNvPr>
          <p:cNvSpPr>
            <a:spLocks xmlns:a="http://schemas.openxmlformats.org/drawingml/2006/main" noGrp="1"/>
          </p:cNvSpPr>
          <p:nvPr/>
        </p:nvSpPr>
        <p:spPr>
          <a:xfrm xmlns:a="http://schemas.openxmlformats.org/drawingml/2006/main">
            <a:off x="685800" y="4095750"/>
            <a:ext cx="4762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2F3F"/>
                </a:solidFill>
                <a:latin typeface="Helvetica Neue"/>
                <a:ea typeface="Helvetica Neue"/>
                <a:cs typeface="Helvetica Neue"/>
              </a:defRPr>
            </a:pPr>
            <a:r>
              <a:rPr sz="2475" b="0">
                <a:solidFill>
                  <a:srgbClr val="172F3F"/>
                </a:solidFill>
                <a:latin typeface="Helvetica Neue"/>
                <a:ea typeface="Helvetica Neue"/>
                <a:cs typeface="Helvetica Neue"/>
              </a:rPr>
              <a:t>Signature available</a:t>
            </a:r>
          </a:p>
          <a:p xmlns:a="http://schemas.openxmlformats.org/drawingml/2006/main">
            <a:pPr>
              <a:defRPr sz="2475" b="0">
                <a:solidFill>
                  <a:srgbClr val="172F3F"/>
                </a:solidFill>
                <a:latin typeface="Helvetica Neue"/>
                <a:ea typeface="Helvetica Neue"/>
                <a:cs typeface="Helvetica Neue"/>
              </a:defRPr>
            </a:pPr>
            <a:r>
              <a:rPr sz="2475" b="0">
                <a:solidFill>
                  <a:srgbClr val="172F3F"/>
                </a:solidFill>
                <a:latin typeface="Helvetica Neue"/>
                <a:ea typeface="Helvetica Neue"/>
                <a:cs typeface="Helvetica Neue"/>
              </a:rPr>
              <a:t>Description absent</a:t>
            </a:r>
          </a:p>
        </p:txBody>
      </p:sp>
      <p:sp>
        <p:nvSpPr>
          <p:cNvPr id="7" name="">
            <a:extLst xmlns:a="http://schemas.openxmlformats.org/drawingml/2006/main">
              <a:ext uri="{FF2B5EF4-FFF2-40B4-BE49-F238E27FC236}">
                <a16:creationId xmlns:a16="http://schemas.microsoft.com/office/drawing/2014/main" id="{4FD8BB97-4B00-4C16-A24A-7116E9008275}"/>
              </a:ext>
            </a:extLst>
          </p:cNvPr>
          <p:cNvSpPr>
            <a:spLocks xmlns:a="http://schemas.openxmlformats.org/drawingml/2006/main" noGrp="1"/>
          </p:cNvSpPr>
          <p:nvPr/>
        </p:nvSpPr>
        <p:spPr>
          <a:xfrm xmlns:a="http://schemas.openxmlformats.org/drawingml/2006/main">
            <a:off x="6419850" y="2552700"/>
            <a:ext cx="5086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D7479"/>
                </a:solidFill>
                <a:latin typeface="Helvetica Neue"/>
                <a:ea typeface="Helvetica Neue"/>
                <a:cs typeface="Helvetica Neue"/>
              </a:defRPr>
            </a:pPr>
            <a:r>
              <a:rPr sz="2025" b="1">
                <a:solidFill>
                  <a:srgbClr val="1D7479"/>
                </a:solidFill>
                <a:latin typeface="Helvetica Neue"/>
                <a:ea typeface="Helvetica Neue"/>
                <a:cs typeface="Helvetica Neue"/>
              </a:rPr>
              <a:t>Prototype declarations</a:t>
            </a:r>
          </a:p>
        </p:txBody>
      </p:sp>
      <p:sp>
        <p:nvSpPr>
          <p:cNvPr id="8" name="">
            <a:extLst xmlns:a="http://schemas.openxmlformats.org/drawingml/2006/main">
              <a:ext uri="{FF2B5EF4-FFF2-40B4-BE49-F238E27FC236}">
                <a16:creationId xmlns:a16="http://schemas.microsoft.com/office/drawing/2014/main" id="{F5A90E91-0520-4901-8C97-388647477084}"/>
              </a:ext>
            </a:extLst>
          </p:cNvPr>
          <p:cNvSpPr>
            <a:spLocks xmlns:a="http://schemas.openxmlformats.org/drawingml/2006/main" noGrp="1"/>
          </p:cNvSpPr>
          <p:nvPr/>
        </p:nvSpPr>
        <p:spPr>
          <a:xfrm xmlns:a="http://schemas.openxmlformats.org/drawingml/2006/main">
            <a:off x="6419850" y="3190875"/>
            <a:ext cx="5086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F3F"/>
                </a:solidFill>
                <a:latin typeface="Menlo"/>
                <a:ea typeface="Menlo"/>
                <a:cs typeface="Menlo"/>
              </a:defRPr>
            </a:pPr>
            <a:r>
              <a:rPr sz="2175" b="0">
                <a:solidFill>
                  <a:srgbClr val="172F3F"/>
                </a:solidFill>
                <a:latin typeface="Menlo"/>
                <a:ea typeface="Menlo"/>
                <a:cs typeface="Menlo"/>
              </a:rPr>
              <a:t>client.request(...)</a:t>
            </a:r>
          </a:p>
        </p:txBody>
      </p:sp>
      <p:sp>
        <p:nvSpPr>
          <p:cNvPr id="9" name="">
            <a:extLst xmlns:a="http://schemas.openxmlformats.org/drawingml/2006/main">
              <a:ext uri="{FF2B5EF4-FFF2-40B4-BE49-F238E27FC236}">
                <a16:creationId xmlns:a16="http://schemas.microsoft.com/office/drawing/2014/main" id="{30536843-99BF-4ADD-9C49-6367B11ED590}"/>
              </a:ext>
            </a:extLst>
          </p:cNvPr>
          <p:cNvSpPr>
            <a:spLocks xmlns:a="http://schemas.openxmlformats.org/drawingml/2006/main" noGrp="1"/>
          </p:cNvSpPr>
          <p:nvPr/>
        </p:nvSpPr>
        <p:spPr>
          <a:xfrm xmlns:a="http://schemas.openxmlformats.org/drawingml/2006/main">
            <a:off x="6419850" y="4095750"/>
            <a:ext cx="50863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D7479"/>
                </a:solidFill>
                <a:latin typeface="Helvetica Neue"/>
                <a:ea typeface="Helvetica Neue"/>
                <a:cs typeface="Helvetica Neue"/>
              </a:defRPr>
            </a:pPr>
            <a:r>
              <a:rPr sz="2475" b="0">
                <a:solidFill>
                  <a:srgbClr val="1D7479"/>
                </a:solidFill>
                <a:latin typeface="Helvetica Neue"/>
                <a:ea typeface="Helvetica Neue"/>
                <a:cs typeface="Helvetica Neue"/>
              </a:rPr>
              <a:t>Signature, description,</a:t>
            </a:r>
          </a:p>
          <a:p xmlns:a="http://schemas.openxmlformats.org/drawingml/2006/main">
            <a:pPr>
              <a:defRPr sz="2475" b="0">
                <a:solidFill>
                  <a:srgbClr val="1D7479"/>
                </a:solidFill>
                <a:latin typeface="Helvetica Neue"/>
                <a:ea typeface="Helvetica Neue"/>
                <a:cs typeface="Helvetica Neue"/>
              </a:defRPr>
            </a:pPr>
            <a:r>
              <a:rPr sz="2475" b="0">
                <a:solidFill>
                  <a:srgbClr val="1D7479"/>
                </a:solidFill>
                <a:latin typeface="Helvetica Neue"/>
                <a:ea typeface="Helvetica Neue"/>
                <a:cs typeface="Helvetica Neue"/>
              </a:rPr>
              <a:t>parameters and examples</a:t>
            </a:r>
          </a:p>
        </p:txBody>
      </p:sp>
      <p:sp>
        <p:nvSpPr>
          <p:cNvPr id="10" name="">
            <a:extLst xmlns:a="http://schemas.openxmlformats.org/drawingml/2006/main">
              <a:ext uri="{FF2B5EF4-FFF2-40B4-BE49-F238E27FC236}">
                <a16:creationId xmlns:a16="http://schemas.microsoft.com/office/drawing/2014/main" id="{B6BFBD2D-4BC9-4962-BFBF-E46ECDC689AD}"/>
              </a:ext>
            </a:extLst>
          </p:cNvPr>
          <p:cNvSpPr>
            <a:spLocks xmlns:a="http://schemas.openxmlformats.org/drawingml/2006/main" noGrp="1"/>
          </p:cNvSpPr>
          <p:nvPr/>
        </p:nvSpPr>
        <p:spPr>
          <a:xfrm xmlns:a="http://schemas.openxmlformats.org/drawingml/2006/main">
            <a:off x="685800" y="5495925"/>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471"/>
                </a:solidFill>
                <a:latin typeface="Helvetica Neue"/>
                <a:ea typeface="Helvetica Neue"/>
                <a:cs typeface="Helvetica Neue"/>
              </a:defRPr>
            </a:pPr>
            <a:r>
              <a:rPr sz="1950" b="0">
                <a:solidFill>
                  <a:srgbClr val="506471"/>
                </a:solidFill>
                <a:latin typeface="Helvetica Neue"/>
                <a:ea typeface="Helvetica Neue"/>
                <a:cs typeface="Helvetica Neue"/>
              </a:rPr>
              <a:t>Verify the packed consumer artifact. Then keep the restored examples correct.</a:t>
            </a:r>
          </a:p>
        </p:txBody>
      </p:sp>
    </p:spTree>
    <p:extLst>
      <p:ext uri="{BB962C8B-B14F-4D97-AF65-F5344CB8AC3E}">
        <p14:creationId xmlns:p14="http://schemas.microsoft.com/office/powerpoint/2010/main" val="675099425"/>
      </p:ext>
    </p:extLst>
  </p:cSld>
</p:sld>
</file>

<file path=ppt/slides/slide5.xml><?xml version="1.0" encoding="utf-8"?>
<p:sld xmlns:p="http://schemas.openxmlformats.org/presentationml/2006/main">
  <p:cSld>
    <p:bg>
      <p:bgPr>
        <a:solidFill xmlns:a="http://schemas.openxmlformats.org/drawingml/2006/main">
          <a:srgbClr val="F8F8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536F2C6-938F-4AD2-8E93-1175ACC07ADE}"/>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F"/>
                </a:solidFill>
                <a:latin typeface="Helvetica Neue"/>
                <a:ea typeface="Helvetica Neue"/>
                <a:cs typeface="Helvetica Neue"/>
              </a:defRPr>
            </a:pPr>
            <a:r>
              <a:rPr sz="3450" b="1">
                <a:solidFill>
                  <a:srgbClr val="172F3F"/>
                </a:solidFill>
                <a:latin typeface="Helvetica Neue"/>
                <a:ea typeface="Helvetica Neue"/>
                <a:cs typeface="Helvetica Neue"/>
              </a:rPr>
              <a:t>Catch a typo before submission</a:t>
            </a:r>
          </a:p>
        </p:txBody>
      </p:sp>
      <p:sp>
        <p:nvSpPr>
          <p:cNvPr id="2" name="">
            <a:extLst xmlns:a="http://schemas.openxmlformats.org/drawingml/2006/main">
              <a:ext uri="{FF2B5EF4-FFF2-40B4-BE49-F238E27FC236}">
                <a16:creationId xmlns:a16="http://schemas.microsoft.com/office/drawing/2014/main" id="{0B3FFAF4-8FF4-4576-88A2-65DB43385D46}"/>
              </a:ext>
            </a:extLst>
          </p:cNvPr>
          <p:cNvSpPr>
            <a:spLocks xmlns:a="http://schemas.openxmlformats.org/drawingml/2006/main" noGrp="1"/>
          </p:cNvSpPr>
          <p:nvPr/>
        </p:nvSpPr>
        <p:spPr>
          <a:xfrm xmlns:a="http://schemas.openxmlformats.org/drawingml/2006/main">
            <a:off x="685800" y="15811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06471"/>
                </a:solidFill>
                <a:latin typeface="Helvetica Neue"/>
                <a:ea typeface="Helvetica Neue"/>
                <a:cs typeface="Helvetica Neue"/>
              </a:defRPr>
            </a:pPr>
            <a:r>
              <a:rPr sz="2025" b="0">
                <a:solidFill>
                  <a:srgbClr val="506471"/>
                </a:solidFill>
                <a:latin typeface="Helvetica Neue"/>
                <a:ea typeface="Helvetica Neue"/>
                <a:cs typeface="Helvetica Neue"/>
              </a:rPr>
              <a:t>The editor can catch locally knowable mistakes</a:t>
            </a:r>
          </a:p>
        </p:txBody>
      </p:sp>
      <p:sp>
        <p:nvSpPr>
          <p:cNvPr id="3" name="">
            <a:extLst xmlns:a="http://schemas.openxmlformats.org/drawingml/2006/main">
              <a:ext uri="{FF2B5EF4-FFF2-40B4-BE49-F238E27FC236}">
                <a16:creationId xmlns:a16="http://schemas.microsoft.com/office/drawing/2014/main" id="{EF76BEAD-FDA5-4155-B783-1294BFC6BE18}"/>
              </a:ext>
            </a:extLst>
          </p:cNvPr>
          <p:cNvSpPr>
            <a:spLocks xmlns:a="http://schemas.openxmlformats.org/drawingml/2006/main" noGrp="1"/>
          </p:cNvSpPr>
          <p:nvPr/>
        </p:nvSpPr>
        <p:spPr>
          <a:xfrm xmlns:a="http://schemas.openxmlformats.org/drawingml/2006/main">
            <a:off x="685800" y="62865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471"/>
                </a:solidFill>
                <a:latin typeface="Helvetica Neue"/>
                <a:ea typeface="Helvetica Neue"/>
                <a:cs typeface="Helvetica Neue"/>
              </a:defRPr>
            </a:pPr>
            <a:r>
              <a:rPr sz="1350" b="0">
                <a:solidFill>
                  <a:srgbClr val="506471"/>
                </a:solidFill>
                <a:latin typeface="Helvetica Neue"/>
                <a:ea typeface="Helvetica Neue"/>
                <a:cs typeface="Helvetica Neue"/>
              </a:rPr>
              <a:t>aha   /   Ripple DevRel   /   5</a:t>
            </a:r>
          </a:p>
        </p:txBody>
      </p:sp>
      <p:sp>
        <p:nvSpPr>
          <p:cNvPr id="4" name="">
            <a:extLst xmlns:a="http://schemas.openxmlformats.org/drawingml/2006/main">
              <a:ext uri="{FF2B5EF4-FFF2-40B4-BE49-F238E27FC236}">
                <a16:creationId xmlns:a16="http://schemas.microsoft.com/office/drawing/2014/main" id="{19422F2E-40C2-4D50-B8F6-357B4843BC08}"/>
              </a:ext>
            </a:extLst>
          </p:cNvPr>
          <p:cNvSpPr>
            <a:spLocks xmlns:a="http://schemas.openxmlformats.org/drawingml/2006/main" noGrp="1"/>
          </p:cNvSpPr>
          <p:nvPr/>
        </p:nvSpPr>
        <p:spPr>
          <a:xfrm xmlns:a="http://schemas.openxmlformats.org/drawingml/2006/main">
            <a:off x="685800" y="22860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506471"/>
                </a:solidFill>
                <a:latin typeface="Helvetica Neue"/>
                <a:ea typeface="Helvetica Neue"/>
                <a:cs typeface="Helvetica Neue"/>
              </a:defRPr>
            </a:pPr>
            <a:r>
              <a:rPr sz="1950" b="1">
                <a:solidFill>
                  <a:srgbClr val="506471"/>
                </a:solidFill>
                <a:latin typeface="Helvetica Neue"/>
                <a:ea typeface="Helvetica Neue"/>
                <a:cs typeface="Helvetica Neue"/>
              </a:rPr>
              <a:t>Published 5.3.0</a:t>
            </a:r>
          </a:p>
        </p:txBody>
      </p:sp>
      <p:sp>
        <p:nvSpPr>
          <p:cNvPr id="5" name="">
            <a:extLst xmlns:a="http://schemas.openxmlformats.org/drawingml/2006/main">
              <a:ext uri="{FF2B5EF4-FFF2-40B4-BE49-F238E27FC236}">
                <a16:creationId xmlns:a16="http://schemas.microsoft.com/office/drawing/2014/main" id="{1ED6F60A-081F-48FC-B1C2-CB2F5DCBB679}"/>
              </a:ext>
            </a:extLst>
          </p:cNvPr>
          <p:cNvSpPr>
            <a:spLocks xmlns:a="http://schemas.openxmlformats.org/drawingml/2006/main" noGrp="1"/>
          </p:cNvSpPr>
          <p:nvPr/>
        </p:nvSpPr>
        <p:spPr>
          <a:xfrm xmlns:a="http://schemas.openxmlformats.org/drawingml/2006/main">
            <a:off x="6419850" y="2286000"/>
            <a:ext cx="5086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D7479"/>
                </a:solidFill>
                <a:latin typeface="Helvetica Neue"/>
                <a:ea typeface="Helvetica Neue"/>
                <a:cs typeface="Helvetica Neue"/>
              </a:defRPr>
            </a:pPr>
            <a:r>
              <a:rPr sz="1950" b="1">
                <a:solidFill>
                  <a:srgbClr val="1D7479"/>
                </a:solidFill>
                <a:latin typeface="Helvetica Neue"/>
                <a:ea typeface="Helvetica Neue"/>
                <a:cs typeface="Helvetica Neue"/>
              </a:rPr>
              <a:t>Unreleased aha prototype</a:t>
            </a:r>
          </a:p>
        </p:txBody>
      </p:sp>
      <p:sp>
        <p:nvSpPr>
          <p:cNvPr id="6" name="">
            <a:extLst xmlns:a="http://schemas.openxmlformats.org/drawingml/2006/main">
              <a:ext uri="{FF2B5EF4-FFF2-40B4-BE49-F238E27FC236}">
                <a16:creationId xmlns:a16="http://schemas.microsoft.com/office/drawing/2014/main" id="{34C5BFBD-4ABC-4A3B-8FB0-CCAACCA62F6A}"/>
              </a:ext>
            </a:extLst>
          </p:cNvPr>
          <p:cNvSpPr>
            <a:spLocks xmlns:a="http://schemas.openxmlformats.org/drawingml/2006/main" noGrp="1"/>
          </p:cNvSpPr>
          <p:nvPr/>
        </p:nvSpPr>
        <p:spPr>
          <a:xfrm xmlns:a="http://schemas.openxmlformats.org/drawingml/2006/main">
            <a:off x="685800" y="2857500"/>
            <a:ext cx="504825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const payment = {</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TransactionType: 'Payment',</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Account: sender.address,</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Destination: receiver.address,</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Amount: '1000000',</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DestinationTagg: 12</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satisfies Payment</a:t>
            </a:r>
          </a:p>
        </p:txBody>
      </p:sp>
      <p:sp>
        <p:nvSpPr>
          <p:cNvPr id="7" name="">
            <a:extLst xmlns:a="http://schemas.openxmlformats.org/drawingml/2006/main">
              <a:ext uri="{FF2B5EF4-FFF2-40B4-BE49-F238E27FC236}">
                <a16:creationId xmlns:a16="http://schemas.microsoft.com/office/drawing/2014/main" id="{77F934D6-B136-424B-82F9-5475E9935782}"/>
              </a:ext>
            </a:extLst>
          </p:cNvPr>
          <p:cNvSpPr>
            <a:spLocks xmlns:a="http://schemas.openxmlformats.org/drawingml/2006/main" noGrp="1"/>
          </p:cNvSpPr>
          <p:nvPr/>
        </p:nvSpPr>
        <p:spPr>
          <a:xfrm xmlns:a="http://schemas.openxmlformats.org/drawingml/2006/main">
            <a:off x="6419850" y="2857500"/>
            <a:ext cx="508635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await client.tx.payment({</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Destination: to.address,</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Amount: '1000000',</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DestinationTagg: 12</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}).signAndSubmit()</a:t>
            </a:r>
          </a:p>
        </p:txBody>
      </p:sp>
      <p:sp>
        <p:nvSpPr>
          <p:cNvPr id="8" name="">
            <a:extLst xmlns:a="http://schemas.openxmlformats.org/drawingml/2006/main">
              <a:ext uri="{FF2B5EF4-FFF2-40B4-BE49-F238E27FC236}">
                <a16:creationId xmlns:a16="http://schemas.microsoft.com/office/drawing/2014/main" id="{584C3A77-DB3A-4E67-9604-6930EC8B734A}"/>
              </a:ext>
            </a:extLst>
          </p:cNvPr>
          <p:cNvSpPr>
            <a:spLocks xmlns:a="http://schemas.openxmlformats.org/drawingml/2006/main" noGrp="1"/>
          </p:cNvSpPr>
          <p:nvPr/>
        </p:nvSpPr>
        <p:spPr>
          <a:xfrm xmlns:a="http://schemas.openxmlformats.org/drawingml/2006/main">
            <a:off x="685800" y="5286375"/>
            <a:ext cx="5048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471"/>
                </a:solidFill>
                <a:latin typeface="Helvetica Neue"/>
                <a:ea typeface="Helvetica Neue"/>
                <a:cs typeface="Helvetica Neue"/>
              </a:defRPr>
            </a:pPr>
            <a:r>
              <a:rPr sz="1875" b="0">
                <a:solidFill>
                  <a:srgbClr val="506471"/>
                </a:solidFill>
                <a:latin typeface="Helvetica Neue"/>
                <a:ea typeface="Helvetica Neue"/>
                <a:cs typeface="Helvetica Neue"/>
              </a:rPr>
              <a:t>Compiles. The misspelled field</a:t>
            </a:r>
          </a:p>
          <a:p xmlns:a="http://schemas.openxmlformats.org/drawingml/2006/main">
            <a:pPr>
              <a:defRPr sz="1875" b="0">
                <a:solidFill>
                  <a:srgbClr val="506471"/>
                </a:solidFill>
                <a:latin typeface="Helvetica Neue"/>
                <a:ea typeface="Helvetica Neue"/>
                <a:cs typeface="Helvetica Neue"/>
              </a:defRPr>
            </a:pPr>
            <a:r>
              <a:rPr sz="1875" b="0">
                <a:solidFill>
                  <a:srgbClr val="506471"/>
                </a:solidFill>
                <a:latin typeface="Helvetica Neue"/>
                <a:ea typeface="Helvetica Neue"/>
                <a:cs typeface="Helvetica Neue"/>
              </a:rPr>
              <a:t>receives no type error.</a:t>
            </a:r>
          </a:p>
        </p:txBody>
      </p:sp>
      <p:sp>
        <p:nvSpPr>
          <p:cNvPr id="9" name="">
            <a:extLst xmlns:a="http://schemas.openxmlformats.org/drawingml/2006/main">
              <a:ext uri="{FF2B5EF4-FFF2-40B4-BE49-F238E27FC236}">
                <a16:creationId xmlns:a16="http://schemas.microsoft.com/office/drawing/2014/main" id="{B41AC1F4-B49F-40A8-BA13-D65C8E36E1D6}"/>
              </a:ext>
            </a:extLst>
          </p:cNvPr>
          <p:cNvSpPr>
            <a:spLocks xmlns:a="http://schemas.openxmlformats.org/drawingml/2006/main" noGrp="1"/>
          </p:cNvSpPr>
          <p:nvPr/>
        </p:nvSpPr>
        <p:spPr>
          <a:xfrm xmlns:a="http://schemas.openxmlformats.org/drawingml/2006/main">
            <a:off x="6419850" y="5286375"/>
            <a:ext cx="50863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D7479"/>
                </a:solidFill>
                <a:latin typeface="Helvetica Neue"/>
                <a:ea typeface="Helvetica Neue"/>
                <a:cs typeface="Helvetica Neue"/>
              </a:defRPr>
            </a:pPr>
            <a:r>
              <a:rPr sz="1875" b="0">
                <a:solidFill>
                  <a:srgbClr val="1D7479"/>
                </a:solidFill>
                <a:latin typeface="Helvetica Neue"/>
                <a:ea typeface="Helvetica Neue"/>
                <a:cs typeface="Helvetica Neue"/>
              </a:rPr>
              <a:t>Payment guides the fields.</a:t>
            </a:r>
          </a:p>
          <a:p xmlns:a="http://schemas.openxmlformats.org/drawingml/2006/main">
            <a:pPr>
              <a:defRPr sz="1875" b="0">
                <a:solidFill>
                  <a:srgbClr val="1D7479"/>
                </a:solidFill>
                <a:latin typeface="Helvetica Neue"/>
                <a:ea typeface="Helvetica Neue"/>
                <a:cs typeface="Helvetica Neue"/>
              </a:defRPr>
            </a:pPr>
            <a:r>
              <a:rPr sz="1875" b="0">
                <a:solidFill>
                  <a:srgbClr val="1D7479"/>
                </a:solidFill>
                <a:latin typeface="Helvetica Neue"/>
                <a:ea typeface="Helvetica Neue"/>
                <a:cs typeface="Helvetica Neue"/>
              </a:rPr>
              <a:t>The typo is rejected at the call.</a:t>
            </a:r>
          </a:p>
        </p:txBody>
      </p:sp>
    </p:spTree>
    <p:extLst>
      <p:ext uri="{BB962C8B-B14F-4D97-AF65-F5344CB8AC3E}">
        <p14:creationId xmlns:p14="http://schemas.microsoft.com/office/powerpoint/2010/main" val="423820282"/>
      </p:ext>
    </p:extLst>
  </p:cSld>
</p:sld>
</file>

<file path=ppt/slides/slide6.xml><?xml version="1.0" encoding="utf-8"?>
<p:sld xmlns:p="http://schemas.openxmlformats.org/presentationml/2006/main">
  <p:cSld>
    <p:bg>
      <p:bgPr>
        <a:solidFill xmlns:a="http://schemas.openxmlformats.org/drawingml/2006/main">
          <a:srgbClr val="F8F8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2999212-AA5C-45C7-A0C1-84C2864A2760}"/>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F"/>
                </a:solidFill>
                <a:latin typeface="Helvetica Neue"/>
                <a:ea typeface="Helvetica Neue"/>
                <a:cs typeface="Helvetica Neue"/>
              </a:defRPr>
            </a:pPr>
            <a:r>
              <a:rPr sz="3450" b="1">
                <a:solidFill>
                  <a:srgbClr val="172F3F"/>
                </a:solidFill>
                <a:latin typeface="Helvetica Neue"/>
                <a:ea typeface="Helvetica Neue"/>
                <a:cs typeface="Helvetica Neue"/>
              </a:rPr>
              <a:t>Let a query describe its answer</a:t>
            </a:r>
          </a:p>
        </p:txBody>
      </p:sp>
      <p:sp>
        <p:nvSpPr>
          <p:cNvPr id="2" name="">
            <a:extLst xmlns:a="http://schemas.openxmlformats.org/drawingml/2006/main">
              <a:ext uri="{FF2B5EF4-FFF2-40B4-BE49-F238E27FC236}">
                <a16:creationId xmlns:a16="http://schemas.microsoft.com/office/drawing/2014/main" id="{812BCB08-4002-4C53-9EAA-2549A1375A67}"/>
              </a:ext>
            </a:extLst>
          </p:cNvPr>
          <p:cNvSpPr>
            <a:spLocks xmlns:a="http://schemas.openxmlformats.org/drawingml/2006/main" noGrp="1"/>
          </p:cNvSpPr>
          <p:nvPr/>
        </p:nvSpPr>
        <p:spPr>
          <a:xfrm xmlns:a="http://schemas.openxmlformats.org/drawingml/2006/main">
            <a:off x="685800" y="15811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06471"/>
                </a:solidFill>
                <a:latin typeface="Helvetica Neue"/>
                <a:ea typeface="Helvetica Neue"/>
                <a:cs typeface="Helvetica Neue"/>
              </a:defRPr>
            </a:pPr>
            <a:r>
              <a:rPr sz="2025" b="0">
                <a:solidFill>
                  <a:srgbClr val="506471"/>
                </a:solidFill>
                <a:latin typeface="Helvetica Neue"/>
                <a:ea typeface="Helvetica Neue"/>
                <a:cs typeface="Helvetica Neue"/>
              </a:rPr>
              <a:t>An MPT selector should lead to MPT fields</a:t>
            </a:r>
          </a:p>
        </p:txBody>
      </p:sp>
      <p:sp>
        <p:nvSpPr>
          <p:cNvPr id="3" name="">
            <a:extLst xmlns:a="http://schemas.openxmlformats.org/drawingml/2006/main">
              <a:ext uri="{FF2B5EF4-FFF2-40B4-BE49-F238E27FC236}">
                <a16:creationId xmlns:a16="http://schemas.microsoft.com/office/drawing/2014/main" id="{E42531FB-B059-4FF1-9AE0-A407B83AD03A}"/>
              </a:ext>
            </a:extLst>
          </p:cNvPr>
          <p:cNvSpPr>
            <a:spLocks xmlns:a="http://schemas.openxmlformats.org/drawingml/2006/main" noGrp="1"/>
          </p:cNvSpPr>
          <p:nvPr/>
        </p:nvSpPr>
        <p:spPr>
          <a:xfrm xmlns:a="http://schemas.openxmlformats.org/drawingml/2006/main">
            <a:off x="685800" y="62865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471"/>
                </a:solidFill>
                <a:latin typeface="Helvetica Neue"/>
                <a:ea typeface="Helvetica Neue"/>
                <a:cs typeface="Helvetica Neue"/>
              </a:defRPr>
            </a:pPr>
            <a:r>
              <a:rPr sz="1350" b="0">
                <a:solidFill>
                  <a:srgbClr val="506471"/>
                </a:solidFill>
                <a:latin typeface="Helvetica Neue"/>
                <a:ea typeface="Helvetica Neue"/>
                <a:cs typeface="Helvetica Neue"/>
              </a:rPr>
              <a:t>aha   /   Ripple DevRel   /   6</a:t>
            </a:r>
          </a:p>
        </p:txBody>
      </p:sp>
      <p:sp>
        <p:nvSpPr>
          <p:cNvPr id="4" name="">
            <a:extLst xmlns:a="http://schemas.openxmlformats.org/drawingml/2006/main">
              <a:ext uri="{FF2B5EF4-FFF2-40B4-BE49-F238E27FC236}">
                <a16:creationId xmlns:a16="http://schemas.microsoft.com/office/drawing/2014/main" id="{657FF973-0873-49BA-97AD-CA7ECCF882D7}"/>
              </a:ext>
            </a:extLst>
          </p:cNvPr>
          <p:cNvSpPr>
            <a:spLocks xmlns:a="http://schemas.openxmlformats.org/drawingml/2006/main" noGrp="1"/>
          </p:cNvSpPr>
          <p:nvPr/>
        </p:nvSpPr>
        <p:spPr>
          <a:xfrm xmlns:a="http://schemas.openxmlformats.org/drawingml/2006/main">
            <a:off x="685800" y="22860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506471"/>
                </a:solidFill>
                <a:latin typeface="Helvetica Neue"/>
                <a:ea typeface="Helvetica Neue"/>
                <a:cs typeface="Helvetica Neue"/>
              </a:defRPr>
            </a:pPr>
            <a:r>
              <a:rPr sz="1950" b="1">
                <a:solidFill>
                  <a:srgbClr val="506471"/>
                </a:solidFill>
                <a:latin typeface="Helvetica Neue"/>
                <a:ea typeface="Helvetica Neue"/>
                <a:cs typeface="Helvetica Neue"/>
              </a:rPr>
              <a:t>Published 5.3.0</a:t>
            </a:r>
          </a:p>
        </p:txBody>
      </p:sp>
      <p:sp>
        <p:nvSpPr>
          <p:cNvPr id="5" name="">
            <a:extLst xmlns:a="http://schemas.openxmlformats.org/drawingml/2006/main">
              <a:ext uri="{FF2B5EF4-FFF2-40B4-BE49-F238E27FC236}">
                <a16:creationId xmlns:a16="http://schemas.microsoft.com/office/drawing/2014/main" id="{30558D44-BF75-4CCF-A1FC-DDB17242AC83}"/>
              </a:ext>
            </a:extLst>
          </p:cNvPr>
          <p:cNvSpPr>
            <a:spLocks xmlns:a="http://schemas.openxmlformats.org/drawingml/2006/main" noGrp="1"/>
          </p:cNvSpPr>
          <p:nvPr/>
        </p:nvSpPr>
        <p:spPr>
          <a:xfrm xmlns:a="http://schemas.openxmlformats.org/drawingml/2006/main">
            <a:off x="6419850" y="2286000"/>
            <a:ext cx="5086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D7479"/>
                </a:solidFill>
                <a:latin typeface="Helvetica Neue"/>
                <a:ea typeface="Helvetica Neue"/>
                <a:cs typeface="Helvetica Neue"/>
              </a:defRPr>
            </a:pPr>
            <a:r>
              <a:rPr sz="1950" b="1">
                <a:solidFill>
                  <a:srgbClr val="1D7479"/>
                </a:solidFill>
                <a:latin typeface="Helvetica Neue"/>
                <a:ea typeface="Helvetica Neue"/>
                <a:cs typeface="Helvetica Neue"/>
              </a:rPr>
              <a:t>Unreleased aha prototype</a:t>
            </a:r>
          </a:p>
        </p:txBody>
      </p:sp>
      <p:sp>
        <p:nvSpPr>
          <p:cNvPr id="6" name="">
            <a:extLst xmlns:a="http://schemas.openxmlformats.org/drawingml/2006/main">
              <a:ext uri="{FF2B5EF4-FFF2-40B4-BE49-F238E27FC236}">
                <a16:creationId xmlns:a16="http://schemas.microsoft.com/office/drawing/2014/main" id="{BB0727DA-B9B2-4C62-830A-DBE346D454E9}"/>
              </a:ext>
            </a:extLst>
          </p:cNvPr>
          <p:cNvSpPr>
            <a:spLocks xmlns:a="http://schemas.openxmlformats.org/drawingml/2006/main" noGrp="1"/>
          </p:cNvSpPr>
          <p:nvPr/>
        </p:nvSpPr>
        <p:spPr>
          <a:xfrm xmlns:a="http://schemas.openxmlformats.org/drawingml/2006/main">
            <a:off x="685800" y="2857500"/>
            <a:ext cx="504825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const entry = await client.request({</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command: 'ledger_entry',</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mpt_issuance: issuanceId,</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ledger_index: 'validated'</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entry.result.node.MPTokenMetadata</a:t>
            </a:r>
          </a:p>
        </p:txBody>
      </p:sp>
      <p:sp>
        <p:nvSpPr>
          <p:cNvPr id="7" name="">
            <a:extLst xmlns:a="http://schemas.openxmlformats.org/drawingml/2006/main">
              <a:ext uri="{FF2B5EF4-FFF2-40B4-BE49-F238E27FC236}">
                <a16:creationId xmlns:a16="http://schemas.microsoft.com/office/drawing/2014/main" id="{0137A7C0-79DB-4967-8926-2E594013F446}"/>
              </a:ext>
            </a:extLst>
          </p:cNvPr>
          <p:cNvSpPr>
            <a:spLocks xmlns:a="http://schemas.openxmlformats.org/drawingml/2006/main" noGrp="1"/>
          </p:cNvSpPr>
          <p:nvPr/>
        </p:nvSpPr>
        <p:spPr>
          <a:xfrm xmlns:a="http://schemas.openxmlformats.org/drawingml/2006/main">
            <a:off x="6419850" y="2857500"/>
            <a:ext cx="508635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const entry = await client.request({</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command: 'ledger_entry',</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mpt_issuance: issuanceId,</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ledger_index: 'validated'</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entry.result.node.MPTokenMetadata</a:t>
            </a:r>
          </a:p>
        </p:txBody>
      </p:sp>
      <p:sp>
        <p:nvSpPr>
          <p:cNvPr id="8" name="">
            <a:extLst xmlns:a="http://schemas.openxmlformats.org/drawingml/2006/main">
              <a:ext uri="{FF2B5EF4-FFF2-40B4-BE49-F238E27FC236}">
                <a16:creationId xmlns:a16="http://schemas.microsoft.com/office/drawing/2014/main" id="{63E2A0AC-3276-43AA-8DA0-E22FF2200BA7}"/>
              </a:ext>
            </a:extLst>
          </p:cNvPr>
          <p:cNvSpPr>
            <a:spLocks xmlns:a="http://schemas.openxmlformats.org/drawingml/2006/main" noGrp="1"/>
          </p:cNvSpPr>
          <p:nvPr/>
        </p:nvSpPr>
        <p:spPr>
          <a:xfrm xmlns:a="http://schemas.openxmlformats.org/drawingml/2006/main">
            <a:off x="685800" y="5286375"/>
            <a:ext cx="5048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471"/>
                </a:solidFill>
                <a:latin typeface="Helvetica Neue"/>
                <a:ea typeface="Helvetica Neue"/>
                <a:cs typeface="Helvetica Neue"/>
              </a:defRPr>
            </a:pPr>
            <a:r>
              <a:rPr sz="1875" b="0">
                <a:solidFill>
                  <a:srgbClr val="506471"/>
                </a:solidFill>
                <a:latin typeface="Helvetica Neue"/>
                <a:ea typeface="Helvetica Neue"/>
                <a:cs typeface="Helvetica Neue"/>
              </a:rPr>
              <a:t>Property access is rejected.</a:t>
            </a:r>
          </a:p>
          <a:p xmlns:a="http://schemas.openxmlformats.org/drawingml/2006/main">
            <a:pPr>
              <a:defRPr sz="1875" b="0">
                <a:solidFill>
                  <a:srgbClr val="506471"/>
                </a:solidFill>
                <a:latin typeface="Helvetica Neue"/>
                <a:ea typeface="Helvetica Neue"/>
                <a:cs typeface="Helvetica Neue"/>
              </a:defRPr>
            </a:pPr>
            <a:r>
              <a:rPr sz="1875" b="0">
                <a:solidFill>
                  <a:srgbClr val="506471"/>
                </a:solidFill>
                <a:latin typeface="Helvetica Neue"/>
                <a:ea typeface="Helvetica Neue"/>
                <a:cs typeface="Helvetica Neue"/>
              </a:rPr>
              <a:t>Another kind check is needed.</a:t>
            </a:r>
          </a:p>
        </p:txBody>
      </p:sp>
      <p:sp>
        <p:nvSpPr>
          <p:cNvPr id="9" name="">
            <a:extLst xmlns:a="http://schemas.openxmlformats.org/drawingml/2006/main">
              <a:ext uri="{FF2B5EF4-FFF2-40B4-BE49-F238E27FC236}">
                <a16:creationId xmlns:a16="http://schemas.microsoft.com/office/drawing/2014/main" id="{27130EA8-94EA-4421-8A32-5ACC64788F7F}"/>
              </a:ext>
            </a:extLst>
          </p:cNvPr>
          <p:cNvSpPr>
            <a:spLocks xmlns:a="http://schemas.openxmlformats.org/drawingml/2006/main" noGrp="1"/>
          </p:cNvSpPr>
          <p:nvPr/>
        </p:nvSpPr>
        <p:spPr>
          <a:xfrm xmlns:a="http://schemas.openxmlformats.org/drawingml/2006/main">
            <a:off x="6419850" y="5286375"/>
            <a:ext cx="50863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D7479"/>
                </a:solidFill>
                <a:latin typeface="Helvetica Neue"/>
                <a:ea typeface="Helvetica Neue"/>
                <a:cs typeface="Helvetica Neue"/>
              </a:defRPr>
            </a:pPr>
            <a:r>
              <a:rPr sz="1875" b="0">
                <a:solidFill>
                  <a:srgbClr val="1D7479"/>
                </a:solidFill>
                <a:latin typeface="Helvetica Neue"/>
                <a:ea typeface="Helvetica Neue"/>
                <a:cs typeface="Helvetica Neue"/>
              </a:rPr>
              <a:t>MPT fields are discoverable.</a:t>
            </a:r>
          </a:p>
          <a:p xmlns:a="http://schemas.openxmlformats.org/drawingml/2006/main">
            <a:pPr>
              <a:defRPr sz="1875" b="0">
                <a:solidFill>
                  <a:srgbClr val="1D7479"/>
                </a:solidFill>
                <a:latin typeface="Helvetica Neue"/>
                <a:ea typeface="Helvetica Neue"/>
                <a:cs typeface="Helvetica Neue"/>
              </a:defRPr>
            </a:pPr>
            <a:r>
              <a:rPr sz="1875" b="0">
                <a:solidFill>
                  <a:srgbClr val="1D7479"/>
                </a:solidFill>
                <a:latin typeface="Helvetica Neue"/>
                <a:ea typeface="Helvetica Neue"/>
                <a:cs typeface="Helvetica Neue"/>
              </a:rPr>
              <a:t>Optional metadata stays optional.</a:t>
            </a:r>
          </a:p>
        </p:txBody>
      </p:sp>
    </p:spTree>
    <p:extLst>
      <p:ext uri="{BB962C8B-B14F-4D97-AF65-F5344CB8AC3E}">
        <p14:creationId xmlns:p14="http://schemas.microsoft.com/office/powerpoint/2010/main" val="257959548"/>
      </p:ext>
    </p:extLst>
  </p:cSld>
</p:sld>
</file>

<file path=ppt/slides/slide7.xml><?xml version="1.0" encoding="utf-8"?>
<p:sld xmlns:p="http://schemas.openxmlformats.org/presentationml/2006/main">
  <p:cSld>
    <p:bg>
      <p:bgPr>
        <a:solidFill xmlns:a="http://schemas.openxmlformats.org/drawingml/2006/main">
          <a:srgbClr val="F8F8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670039A-85F3-4A77-B77E-32C2CD842BC5}"/>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F"/>
                </a:solidFill>
                <a:latin typeface="Helvetica Neue"/>
                <a:ea typeface="Helvetica Neue"/>
                <a:cs typeface="Helvetica Neue"/>
              </a:defRPr>
            </a:pPr>
            <a:r>
              <a:rPr sz="3450" b="1">
                <a:solidFill>
                  <a:srgbClr val="172F3F"/>
                </a:solidFill>
                <a:latin typeface="Helvetica Neue"/>
                <a:ea typeface="Helvetica Neue"/>
                <a:cs typeface="Helvetica Neue"/>
              </a:rPr>
              <a:t>Keep types through signing</a:t>
            </a:r>
          </a:p>
        </p:txBody>
      </p:sp>
      <p:sp>
        <p:nvSpPr>
          <p:cNvPr id="2" name="">
            <a:extLst xmlns:a="http://schemas.openxmlformats.org/drawingml/2006/main">
              <a:ext uri="{FF2B5EF4-FFF2-40B4-BE49-F238E27FC236}">
                <a16:creationId xmlns:a16="http://schemas.microsoft.com/office/drawing/2014/main" id="{DDDE390D-4C89-4738-8528-A7DA434BFD2C}"/>
              </a:ext>
            </a:extLst>
          </p:cNvPr>
          <p:cNvSpPr>
            <a:spLocks xmlns:a="http://schemas.openxmlformats.org/drawingml/2006/main" noGrp="1"/>
          </p:cNvSpPr>
          <p:nvPr/>
        </p:nvSpPr>
        <p:spPr>
          <a:xfrm xmlns:a="http://schemas.openxmlformats.org/drawingml/2006/main">
            <a:off x="685800" y="15811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06471"/>
                </a:solidFill>
                <a:latin typeface="Helvetica Neue"/>
                <a:ea typeface="Helvetica Neue"/>
                <a:cs typeface="Helvetica Neue"/>
              </a:defRPr>
            </a:pPr>
            <a:r>
              <a:rPr sz="2025" b="0">
                <a:solidFill>
                  <a:srgbClr val="506471"/>
                </a:solidFill>
                <a:latin typeface="Helvetica Neue"/>
                <a:ea typeface="Helvetica Neue"/>
                <a:cs typeface="Helvetica Neue"/>
              </a:rPr>
              <a:t>Preparation, signing and confirmation are one developer workflow</a:t>
            </a:r>
          </a:p>
        </p:txBody>
      </p:sp>
      <p:sp>
        <p:nvSpPr>
          <p:cNvPr id="3" name="">
            <a:extLst xmlns:a="http://schemas.openxmlformats.org/drawingml/2006/main">
              <a:ext uri="{FF2B5EF4-FFF2-40B4-BE49-F238E27FC236}">
                <a16:creationId xmlns:a16="http://schemas.microsoft.com/office/drawing/2014/main" id="{D0777FC8-B7C1-4E69-8BA7-D597188918F2}"/>
              </a:ext>
            </a:extLst>
          </p:cNvPr>
          <p:cNvSpPr>
            <a:spLocks xmlns:a="http://schemas.openxmlformats.org/drawingml/2006/main" noGrp="1"/>
          </p:cNvSpPr>
          <p:nvPr/>
        </p:nvSpPr>
        <p:spPr>
          <a:xfrm xmlns:a="http://schemas.openxmlformats.org/drawingml/2006/main">
            <a:off x="685800" y="62865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471"/>
                </a:solidFill>
                <a:latin typeface="Helvetica Neue"/>
                <a:ea typeface="Helvetica Neue"/>
                <a:cs typeface="Helvetica Neue"/>
              </a:defRPr>
            </a:pPr>
            <a:r>
              <a:rPr sz="1350" b="0">
                <a:solidFill>
                  <a:srgbClr val="506471"/>
                </a:solidFill>
                <a:latin typeface="Helvetica Neue"/>
                <a:ea typeface="Helvetica Neue"/>
                <a:cs typeface="Helvetica Neue"/>
              </a:rPr>
              <a:t>aha   /   Ripple DevRel   /   7</a:t>
            </a:r>
          </a:p>
        </p:txBody>
      </p:sp>
      <p:sp>
        <p:nvSpPr>
          <p:cNvPr id="4" name="">
            <a:extLst xmlns:a="http://schemas.openxmlformats.org/drawingml/2006/main">
              <a:ext uri="{FF2B5EF4-FFF2-40B4-BE49-F238E27FC236}">
                <a16:creationId xmlns:a16="http://schemas.microsoft.com/office/drawing/2014/main" id="{807D3114-9DA0-41BB-B558-A0C05B95E5D5}"/>
              </a:ext>
            </a:extLst>
          </p:cNvPr>
          <p:cNvSpPr>
            <a:spLocks xmlns:a="http://schemas.openxmlformats.org/drawingml/2006/main" noGrp="1"/>
          </p:cNvSpPr>
          <p:nvPr/>
        </p:nvSpPr>
        <p:spPr>
          <a:xfrm xmlns:a="http://schemas.openxmlformats.org/drawingml/2006/main">
            <a:off x="685800" y="22860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506471"/>
                </a:solidFill>
                <a:latin typeface="Helvetica Neue"/>
                <a:ea typeface="Helvetica Neue"/>
                <a:cs typeface="Helvetica Neue"/>
              </a:defRPr>
            </a:pPr>
            <a:r>
              <a:rPr sz="1950" b="1">
                <a:solidFill>
                  <a:srgbClr val="506471"/>
                </a:solidFill>
                <a:latin typeface="Helvetica Neue"/>
                <a:ea typeface="Helvetica Neue"/>
                <a:cs typeface="Helvetica Neue"/>
              </a:rPr>
              <a:t>Published 5.3.0</a:t>
            </a:r>
          </a:p>
        </p:txBody>
      </p:sp>
      <p:sp>
        <p:nvSpPr>
          <p:cNvPr id="5" name="">
            <a:extLst xmlns:a="http://schemas.openxmlformats.org/drawingml/2006/main">
              <a:ext uri="{FF2B5EF4-FFF2-40B4-BE49-F238E27FC236}">
                <a16:creationId xmlns:a16="http://schemas.microsoft.com/office/drawing/2014/main" id="{52964F31-79D9-4340-B0F2-CC37021A13F0}"/>
              </a:ext>
            </a:extLst>
          </p:cNvPr>
          <p:cNvSpPr>
            <a:spLocks xmlns:a="http://schemas.openxmlformats.org/drawingml/2006/main" noGrp="1"/>
          </p:cNvSpPr>
          <p:nvPr/>
        </p:nvSpPr>
        <p:spPr>
          <a:xfrm xmlns:a="http://schemas.openxmlformats.org/drawingml/2006/main">
            <a:off x="6419850" y="2286000"/>
            <a:ext cx="5086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D7479"/>
                </a:solidFill>
                <a:latin typeface="Helvetica Neue"/>
                <a:ea typeface="Helvetica Neue"/>
                <a:cs typeface="Helvetica Neue"/>
              </a:defRPr>
            </a:pPr>
            <a:r>
              <a:rPr sz="1950" b="1">
                <a:solidFill>
                  <a:srgbClr val="1D7479"/>
                </a:solidFill>
                <a:latin typeface="Helvetica Neue"/>
                <a:ea typeface="Helvetica Neue"/>
                <a:cs typeface="Helvetica Neue"/>
              </a:rPr>
              <a:t>Unreleased aha prototype</a:t>
            </a:r>
          </a:p>
        </p:txBody>
      </p:sp>
      <p:sp>
        <p:nvSpPr>
          <p:cNvPr id="6" name="">
            <a:extLst xmlns:a="http://schemas.openxmlformats.org/drawingml/2006/main">
              <a:ext uri="{FF2B5EF4-FFF2-40B4-BE49-F238E27FC236}">
                <a16:creationId xmlns:a16="http://schemas.microsoft.com/office/drawing/2014/main" id="{41788018-3C38-48D4-A52F-6BA9E84C16E4}"/>
              </a:ext>
            </a:extLst>
          </p:cNvPr>
          <p:cNvSpPr>
            <a:spLocks xmlns:a="http://schemas.openxmlformats.org/drawingml/2006/main" noGrp="1"/>
          </p:cNvSpPr>
          <p:nvPr/>
        </p:nvSpPr>
        <p:spPr>
          <a:xfrm xmlns:a="http://schemas.openxmlformats.org/drawingml/2006/main">
            <a:off x="685800" y="2857500"/>
            <a:ext cx="504825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const prepared =</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await client.autofill&lt;Payment&gt;(tx)</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const signed = sender.sign(prepared)</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const result = await client</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.submitAndWait(signed.tx_blob)</a:t>
            </a:r>
          </a:p>
        </p:txBody>
      </p:sp>
      <p:sp>
        <p:nvSpPr>
          <p:cNvPr id="7" name="">
            <a:extLst xmlns:a="http://schemas.openxmlformats.org/drawingml/2006/main">
              <a:ext uri="{FF2B5EF4-FFF2-40B4-BE49-F238E27FC236}">
                <a16:creationId xmlns:a16="http://schemas.microsoft.com/office/drawing/2014/main" id="{378512A2-0347-4DC5-83E3-57D09984A584}"/>
              </a:ext>
            </a:extLst>
          </p:cNvPr>
          <p:cNvSpPr>
            <a:spLocks xmlns:a="http://schemas.openxmlformats.org/drawingml/2006/main" noGrp="1"/>
          </p:cNvSpPr>
          <p:nvPr/>
        </p:nvSpPr>
        <p:spPr>
          <a:xfrm xmlns:a="http://schemas.openxmlformats.org/drawingml/2006/main">
            <a:off x="6419850" y="2857500"/>
            <a:ext cx="508635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const prepared =</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await client.autofill(tx)</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const signed = sender.sign(prepared)</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const result = await client</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.submitAndWait(signed.tx_blob)</a:t>
            </a:r>
          </a:p>
        </p:txBody>
      </p:sp>
      <p:sp>
        <p:nvSpPr>
          <p:cNvPr id="8" name="">
            <a:extLst xmlns:a="http://schemas.openxmlformats.org/drawingml/2006/main">
              <a:ext uri="{FF2B5EF4-FFF2-40B4-BE49-F238E27FC236}">
                <a16:creationId xmlns:a16="http://schemas.microsoft.com/office/drawing/2014/main" id="{1609A5ED-E9BC-4749-ABC7-929763C8DCDD}"/>
              </a:ext>
            </a:extLst>
          </p:cNvPr>
          <p:cNvSpPr>
            <a:spLocks xmlns:a="http://schemas.openxmlformats.org/drawingml/2006/main" noGrp="1"/>
          </p:cNvSpPr>
          <p:nvPr/>
        </p:nvSpPr>
        <p:spPr>
          <a:xfrm xmlns:a="http://schemas.openxmlformats.org/drawingml/2006/main">
            <a:off x="685800" y="5286375"/>
            <a:ext cx="5048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471"/>
                </a:solidFill>
                <a:latin typeface="Helvetica Neue"/>
                <a:ea typeface="Helvetica Neue"/>
                <a:cs typeface="Helvetica Neue"/>
              </a:defRPr>
            </a:pPr>
            <a:r>
              <a:rPr sz="1875" b="0">
                <a:solidFill>
                  <a:srgbClr val="506471"/>
                </a:solidFill>
                <a:latin typeface="Helvetica Neue"/>
                <a:ea typeface="Helvetica Neue"/>
                <a:cs typeface="Helvetica Neue"/>
              </a:rPr>
              <a:t>An explicit generic exposes Fee.</a:t>
            </a:r>
          </a:p>
          <a:p xmlns:a="http://schemas.openxmlformats.org/drawingml/2006/main">
            <a:pPr>
              <a:defRPr sz="1875" b="0">
                <a:solidFill>
                  <a:srgbClr val="506471"/>
                </a:solidFill>
                <a:latin typeface="Helvetica Neue"/>
                <a:ea typeface="Helvetica Neue"/>
                <a:cs typeface="Helvetica Neue"/>
              </a:defRPr>
            </a:pPr>
            <a:r>
              <a:rPr sz="1875" b="0">
                <a:solidFill>
                  <a:srgbClr val="506471"/>
                </a:solidFill>
                <a:latin typeface="Helvetica Neue"/>
                <a:ea typeface="Helvetica Neue"/>
                <a:cs typeface="Helvetica Neue"/>
              </a:rPr>
              <a:t>The signed blob loses its type.</a:t>
            </a:r>
          </a:p>
        </p:txBody>
      </p:sp>
      <p:sp>
        <p:nvSpPr>
          <p:cNvPr id="9" name="">
            <a:extLst xmlns:a="http://schemas.openxmlformats.org/drawingml/2006/main">
              <a:ext uri="{FF2B5EF4-FFF2-40B4-BE49-F238E27FC236}">
                <a16:creationId xmlns:a16="http://schemas.microsoft.com/office/drawing/2014/main" id="{0F8ED0CB-669B-4D83-9345-7A7BF15E77ED}"/>
              </a:ext>
            </a:extLst>
          </p:cNvPr>
          <p:cNvSpPr>
            <a:spLocks xmlns:a="http://schemas.openxmlformats.org/drawingml/2006/main" noGrp="1"/>
          </p:cNvSpPr>
          <p:nvPr/>
        </p:nvSpPr>
        <p:spPr>
          <a:xfrm xmlns:a="http://schemas.openxmlformats.org/drawingml/2006/main">
            <a:off x="6419850" y="5286375"/>
            <a:ext cx="50863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D7479"/>
                </a:solidFill>
                <a:latin typeface="Helvetica Neue"/>
                <a:ea typeface="Helvetica Neue"/>
                <a:cs typeface="Helvetica Neue"/>
              </a:defRPr>
            </a:pPr>
            <a:r>
              <a:rPr sz="1875" b="0">
                <a:solidFill>
                  <a:srgbClr val="1D7479"/>
                </a:solidFill>
                <a:latin typeface="Helvetica Neue"/>
                <a:ea typeface="Helvetica Neue"/>
                <a:cs typeface="Helvetica Neue"/>
              </a:rPr>
              <a:t>Fee is inferred. Payment fields</a:t>
            </a:r>
          </a:p>
          <a:p xmlns:a="http://schemas.openxmlformats.org/drawingml/2006/main">
            <a:pPr>
              <a:defRPr sz="1875" b="0">
                <a:solidFill>
                  <a:srgbClr val="1D7479"/>
                </a:solidFill>
                <a:latin typeface="Helvetica Neue"/>
                <a:ea typeface="Helvetica Neue"/>
                <a:cs typeface="Helvetica Neue"/>
              </a:defRPr>
            </a:pPr>
            <a:r>
              <a:rPr sz="1875" b="0">
                <a:solidFill>
                  <a:srgbClr val="1D7479"/>
                </a:solidFill>
                <a:latin typeface="Helvetica Neue"/>
                <a:ea typeface="Helvetica Neue"/>
                <a:cs typeface="Helvetica Neue"/>
              </a:rPr>
              <a:t>remain available after confirmation.</a:t>
            </a:r>
          </a:p>
        </p:txBody>
      </p:sp>
    </p:spTree>
    <p:extLst>
      <p:ext uri="{BB962C8B-B14F-4D97-AF65-F5344CB8AC3E}">
        <p14:creationId xmlns:p14="http://schemas.microsoft.com/office/powerpoint/2010/main" val="2104240597"/>
      </p:ext>
    </p:extLst>
  </p:cSld>
</p:sld>
</file>

<file path=ppt/slides/slide8.xml><?xml version="1.0" encoding="utf-8"?>
<p:sld xmlns:p="http://schemas.openxmlformats.org/presentationml/2006/main">
  <p:cSld>
    <p:bg>
      <p:bgPr>
        <a:solidFill xmlns:a="http://schemas.openxmlformats.org/drawingml/2006/main">
          <a:srgbClr val="F8F8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8D225DF-706C-40B6-BB14-0F92DC8FC85C}"/>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F"/>
                </a:solidFill>
                <a:latin typeface="Helvetica Neue"/>
                <a:ea typeface="Helvetica Neue"/>
                <a:cs typeface="Helvetica Neue"/>
              </a:defRPr>
            </a:pPr>
            <a:r>
              <a:rPr sz="3450" b="1">
                <a:solidFill>
                  <a:srgbClr val="172F3F"/>
                </a:solidFill>
                <a:latin typeface="Helvetica Neue"/>
                <a:ea typeface="Helvetica Neue"/>
                <a:cs typeface="Helvetica Neue"/>
              </a:rPr>
              <a:t>The SDK checks transaction success</a:t>
            </a:r>
          </a:p>
        </p:txBody>
      </p:sp>
      <p:sp>
        <p:nvSpPr>
          <p:cNvPr id="2" name="">
            <a:extLst xmlns:a="http://schemas.openxmlformats.org/drawingml/2006/main">
              <a:ext uri="{FF2B5EF4-FFF2-40B4-BE49-F238E27FC236}">
                <a16:creationId xmlns:a16="http://schemas.microsoft.com/office/drawing/2014/main" id="{984A0B97-B24B-4B54-B979-6181035A0FF1}"/>
              </a:ext>
            </a:extLst>
          </p:cNvPr>
          <p:cNvSpPr>
            <a:spLocks xmlns:a="http://schemas.openxmlformats.org/drawingml/2006/main" noGrp="1"/>
          </p:cNvSpPr>
          <p:nvPr/>
        </p:nvSpPr>
        <p:spPr>
          <a:xfrm xmlns:a="http://schemas.openxmlformats.org/drawingml/2006/main">
            <a:off x="685800" y="15811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06471"/>
                </a:solidFill>
                <a:latin typeface="Helvetica Neue"/>
                <a:ea typeface="Helvetica Neue"/>
                <a:cs typeface="Helvetica Neue"/>
              </a:defRPr>
            </a:pPr>
            <a:r>
              <a:rPr sz="2025" b="0">
                <a:solidFill>
                  <a:srgbClr val="506471"/>
                </a:solidFill>
                <a:latin typeface="Helvetica Neue"/>
                <a:ea typeface="Helvetica Neue"/>
                <a:cs typeface="Helvetica Neue"/>
              </a:rPr>
              <a:t>The first payment should not require learning protocol result codes</a:t>
            </a:r>
          </a:p>
        </p:txBody>
      </p:sp>
      <p:sp>
        <p:nvSpPr>
          <p:cNvPr id="3" name="">
            <a:extLst xmlns:a="http://schemas.openxmlformats.org/drawingml/2006/main">
              <a:ext uri="{FF2B5EF4-FFF2-40B4-BE49-F238E27FC236}">
                <a16:creationId xmlns:a16="http://schemas.microsoft.com/office/drawing/2014/main" id="{D624A048-45AE-4BDD-9BAB-ACADA31A49B7}"/>
              </a:ext>
            </a:extLst>
          </p:cNvPr>
          <p:cNvSpPr>
            <a:spLocks xmlns:a="http://schemas.openxmlformats.org/drawingml/2006/main" noGrp="1"/>
          </p:cNvSpPr>
          <p:nvPr/>
        </p:nvSpPr>
        <p:spPr>
          <a:xfrm xmlns:a="http://schemas.openxmlformats.org/drawingml/2006/main">
            <a:off x="685800" y="62865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471"/>
                </a:solidFill>
                <a:latin typeface="Helvetica Neue"/>
                <a:ea typeface="Helvetica Neue"/>
                <a:cs typeface="Helvetica Neue"/>
              </a:defRPr>
            </a:pPr>
            <a:r>
              <a:rPr sz="1350" b="0">
                <a:solidFill>
                  <a:srgbClr val="506471"/>
                </a:solidFill>
                <a:latin typeface="Helvetica Neue"/>
                <a:ea typeface="Helvetica Neue"/>
                <a:cs typeface="Helvetica Neue"/>
              </a:rPr>
              <a:t>aha   /   Ripple DevRel   /   8</a:t>
            </a:r>
          </a:p>
        </p:txBody>
      </p:sp>
      <p:sp>
        <p:nvSpPr>
          <p:cNvPr id="4" name="">
            <a:extLst xmlns:a="http://schemas.openxmlformats.org/drawingml/2006/main">
              <a:ext uri="{FF2B5EF4-FFF2-40B4-BE49-F238E27FC236}">
                <a16:creationId xmlns:a16="http://schemas.microsoft.com/office/drawing/2014/main" id="{5479B404-EB0C-4C14-910E-4EF04741ECF2}"/>
              </a:ext>
            </a:extLst>
          </p:cNvPr>
          <p:cNvSpPr>
            <a:spLocks xmlns:a="http://schemas.openxmlformats.org/drawingml/2006/main" noGrp="1"/>
          </p:cNvSpPr>
          <p:nvPr/>
        </p:nvSpPr>
        <p:spPr>
          <a:xfrm xmlns:a="http://schemas.openxmlformats.org/drawingml/2006/main">
            <a:off x="685800" y="22860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506471"/>
                </a:solidFill>
                <a:latin typeface="Helvetica Neue"/>
                <a:ea typeface="Helvetica Neue"/>
                <a:cs typeface="Helvetica Neue"/>
              </a:defRPr>
            </a:pPr>
            <a:r>
              <a:rPr sz="1950" b="1">
                <a:solidFill>
                  <a:srgbClr val="506471"/>
                </a:solidFill>
                <a:latin typeface="Helvetica Neue"/>
                <a:ea typeface="Helvetica Neue"/>
                <a:cs typeface="Helvetica Neue"/>
              </a:rPr>
              <a:t>Published 5.3.0</a:t>
            </a:r>
          </a:p>
        </p:txBody>
      </p:sp>
      <p:sp>
        <p:nvSpPr>
          <p:cNvPr id="5" name="">
            <a:extLst xmlns:a="http://schemas.openxmlformats.org/drawingml/2006/main">
              <a:ext uri="{FF2B5EF4-FFF2-40B4-BE49-F238E27FC236}">
                <a16:creationId xmlns:a16="http://schemas.microsoft.com/office/drawing/2014/main" id="{50294681-B2C1-4EB6-A71B-25C9885EDB35}"/>
              </a:ext>
            </a:extLst>
          </p:cNvPr>
          <p:cNvSpPr>
            <a:spLocks xmlns:a="http://schemas.openxmlformats.org/drawingml/2006/main" noGrp="1"/>
          </p:cNvSpPr>
          <p:nvPr/>
        </p:nvSpPr>
        <p:spPr>
          <a:xfrm xmlns:a="http://schemas.openxmlformats.org/drawingml/2006/main">
            <a:off x="6419850" y="2286000"/>
            <a:ext cx="5086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D7479"/>
                </a:solidFill>
                <a:latin typeface="Helvetica Neue"/>
                <a:ea typeface="Helvetica Neue"/>
                <a:cs typeface="Helvetica Neue"/>
              </a:defRPr>
            </a:pPr>
            <a:r>
              <a:rPr sz="1950" b="1">
                <a:solidFill>
                  <a:srgbClr val="1D7479"/>
                </a:solidFill>
                <a:latin typeface="Helvetica Neue"/>
                <a:ea typeface="Helvetica Neue"/>
                <a:cs typeface="Helvetica Neue"/>
              </a:rPr>
              <a:t>Unreleased aha prototype</a:t>
            </a:r>
          </a:p>
        </p:txBody>
      </p:sp>
      <p:sp>
        <p:nvSpPr>
          <p:cNvPr id="6" name="">
            <a:extLst xmlns:a="http://schemas.openxmlformats.org/drawingml/2006/main">
              <a:ext uri="{FF2B5EF4-FFF2-40B4-BE49-F238E27FC236}">
                <a16:creationId xmlns:a16="http://schemas.microsoft.com/office/drawing/2014/main" id="{E02F1BEA-AED1-4FE9-8D4C-67D705BD29CB}"/>
              </a:ext>
            </a:extLst>
          </p:cNvPr>
          <p:cNvSpPr>
            <a:spLocks xmlns:a="http://schemas.openxmlformats.org/drawingml/2006/main" noGrp="1"/>
          </p:cNvSpPr>
          <p:nvPr/>
        </p:nvSpPr>
        <p:spPr>
          <a:xfrm xmlns:a="http://schemas.openxmlformats.org/drawingml/2006/main">
            <a:off x="685800" y="2857500"/>
            <a:ext cx="504825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const m = result.result.meta</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if (!m ||</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typeof m === 'string')</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throw Error('Metadata')</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const code = m.TransactionResult</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if (code !== 'tesSUCCESS')</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throw Error(code)</a:t>
            </a:r>
          </a:p>
        </p:txBody>
      </p:sp>
      <p:sp>
        <p:nvSpPr>
          <p:cNvPr id="7" name="">
            <a:extLst xmlns:a="http://schemas.openxmlformats.org/drawingml/2006/main">
              <a:ext uri="{FF2B5EF4-FFF2-40B4-BE49-F238E27FC236}">
                <a16:creationId xmlns:a16="http://schemas.microsoft.com/office/drawing/2014/main" id="{29A73087-0804-481C-8809-CCE31D023755}"/>
              </a:ext>
            </a:extLst>
          </p:cNvPr>
          <p:cNvSpPr>
            <a:spLocks xmlns:a="http://schemas.openxmlformats.org/drawingml/2006/main" noGrp="1"/>
          </p:cNvSpPr>
          <p:nvPr/>
        </p:nvSpPr>
        <p:spPr>
          <a:xfrm xmlns:a="http://schemas.openxmlformats.org/drawingml/2006/main">
            <a:off x="6419850" y="2857500"/>
            <a:ext cx="508635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const result = await client.tx</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.payment({</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Amount: xrpToDrops('1'),</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Destination: to.address</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}).signAndSubmit()</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console.log(result.result.hash)</a:t>
            </a:r>
          </a:p>
        </p:txBody>
      </p:sp>
      <p:sp>
        <p:nvSpPr>
          <p:cNvPr id="8" name="">
            <a:extLst xmlns:a="http://schemas.openxmlformats.org/drawingml/2006/main">
              <a:ext uri="{FF2B5EF4-FFF2-40B4-BE49-F238E27FC236}">
                <a16:creationId xmlns:a16="http://schemas.microsoft.com/office/drawing/2014/main" id="{C399854B-CDD3-4467-9F98-E6613F2E3756}"/>
              </a:ext>
            </a:extLst>
          </p:cNvPr>
          <p:cNvSpPr>
            <a:spLocks xmlns:a="http://schemas.openxmlformats.org/drawingml/2006/main" noGrp="1"/>
          </p:cNvSpPr>
          <p:nvPr/>
        </p:nvSpPr>
        <p:spPr>
          <a:xfrm xmlns:a="http://schemas.openxmlformats.org/drawingml/2006/main">
            <a:off x="685800" y="5286375"/>
            <a:ext cx="5048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471"/>
                </a:solidFill>
                <a:latin typeface="Helvetica Neue"/>
                <a:ea typeface="Helvetica Neue"/>
                <a:cs typeface="Helvetica Neue"/>
              </a:defRPr>
            </a:pPr>
            <a:r>
              <a:rPr sz="1875" b="0">
                <a:solidFill>
                  <a:srgbClr val="506471"/>
                </a:solidFill>
                <a:latin typeface="Helvetica Neue"/>
                <a:ea typeface="Helvetica Neue"/>
                <a:cs typeface="Helvetica Neue"/>
              </a:rPr>
              <a:t>Callers guard the response</a:t>
            </a:r>
          </a:p>
          <a:p xmlns:a="http://schemas.openxmlformats.org/drawingml/2006/main">
            <a:pPr>
              <a:defRPr sz="1875" b="0">
                <a:solidFill>
                  <a:srgbClr val="506471"/>
                </a:solidFill>
                <a:latin typeface="Helvetica Neue"/>
                <a:ea typeface="Helvetica Neue"/>
                <a:cs typeface="Helvetica Neue"/>
              </a:defRPr>
            </a:pPr>
            <a:r>
              <a:rPr sz="1875" b="0">
                <a:solidFill>
                  <a:srgbClr val="506471"/>
                </a:solidFill>
                <a:latin typeface="Helvetica Neue"/>
                <a:ea typeface="Helvetica Neue"/>
                <a:cs typeface="Helvetica Neue"/>
              </a:rPr>
              <a:t>and interpret its result code.</a:t>
            </a:r>
          </a:p>
        </p:txBody>
      </p:sp>
      <p:sp>
        <p:nvSpPr>
          <p:cNvPr id="9" name="">
            <a:extLst xmlns:a="http://schemas.openxmlformats.org/drawingml/2006/main">
              <a:ext uri="{FF2B5EF4-FFF2-40B4-BE49-F238E27FC236}">
                <a16:creationId xmlns:a16="http://schemas.microsoft.com/office/drawing/2014/main" id="{7D5831E6-F6DF-46C2-B5FC-4012C050A002}"/>
              </a:ext>
            </a:extLst>
          </p:cNvPr>
          <p:cNvSpPr>
            <a:spLocks xmlns:a="http://schemas.openxmlformats.org/drawingml/2006/main" noGrp="1"/>
          </p:cNvSpPr>
          <p:nvPr/>
        </p:nvSpPr>
        <p:spPr>
          <a:xfrm xmlns:a="http://schemas.openxmlformats.org/drawingml/2006/main">
            <a:off x="6419850" y="5286375"/>
            <a:ext cx="50863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D7479"/>
                </a:solidFill>
                <a:latin typeface="Helvetica Neue"/>
                <a:ea typeface="Helvetica Neue"/>
                <a:cs typeface="Helvetica Neue"/>
              </a:defRPr>
            </a:pPr>
            <a:r>
              <a:rPr sz="1875" b="0">
                <a:solidFill>
                  <a:srgbClr val="1D7479"/>
                </a:solidFill>
                <a:latin typeface="Helvetica Neue"/>
                <a:ea typeface="Helvetica Neue"/>
                <a:cs typeface="Helvetica Neue"/>
              </a:rPr>
              <a:t>The SDK returns success or throws.</a:t>
            </a:r>
          </a:p>
          <a:p xmlns:a="http://schemas.openxmlformats.org/drawingml/2006/main">
            <a:pPr>
              <a:defRPr sz="1875" b="0">
                <a:solidFill>
                  <a:srgbClr val="1D7479"/>
                </a:solidFill>
                <a:latin typeface="Helvetica Neue"/>
                <a:ea typeface="Helvetica Neue"/>
                <a:cs typeface="Helvetica Neue"/>
              </a:defRPr>
            </a:pPr>
            <a:r>
              <a:rPr sz="1875" b="0">
                <a:solidFill>
                  <a:srgbClr val="1D7479"/>
                </a:solidFill>
                <a:latin typeface="Helvetica Neue"/>
                <a:ea typeface="Helvetica Neue"/>
                <a:cs typeface="Helvetica Neue"/>
              </a:rPr>
              <a:t>Use trySignAndSubmit for a result.</a:t>
            </a:r>
          </a:p>
        </p:txBody>
      </p:sp>
    </p:spTree>
    <p:extLst>
      <p:ext uri="{BB962C8B-B14F-4D97-AF65-F5344CB8AC3E}">
        <p14:creationId xmlns:p14="http://schemas.microsoft.com/office/powerpoint/2010/main" val="1692177964"/>
      </p:ext>
    </p:extLst>
  </p:cSld>
</p:sld>
</file>

<file path=ppt/slides/slide9.xml><?xml version="1.0" encoding="utf-8"?>
<p:sld xmlns:p="http://schemas.openxmlformats.org/presentationml/2006/main">
  <p:cSld>
    <p:bg>
      <p:bgPr>
        <a:solidFill xmlns:a="http://schemas.openxmlformats.org/drawingml/2006/main">
          <a:srgbClr val="F8F8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49DAE5-4C34-4254-BE49-E968B6935F0A}"/>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F"/>
                </a:solidFill>
                <a:latin typeface="Helvetica Neue"/>
                <a:ea typeface="Helvetica Neue"/>
                <a:cs typeface="Helvetica Neue"/>
              </a:defRPr>
            </a:pPr>
            <a:r>
              <a:rPr sz="3450" b="1">
                <a:solidFill>
                  <a:srgbClr val="172F3F"/>
                </a:solidFill>
                <a:latin typeface="Helvetica Neue"/>
                <a:ea typeface="Helvetica Neue"/>
                <a:cs typeface="Helvetica Neue"/>
              </a:rPr>
              <a:t>Discover transactions and commands</a:t>
            </a:r>
          </a:p>
        </p:txBody>
      </p:sp>
      <p:sp>
        <p:nvSpPr>
          <p:cNvPr id="2" name="">
            <a:extLst xmlns:a="http://schemas.openxmlformats.org/drawingml/2006/main">
              <a:ext uri="{FF2B5EF4-FFF2-40B4-BE49-F238E27FC236}">
                <a16:creationId xmlns:a16="http://schemas.microsoft.com/office/drawing/2014/main" id="{F70A1F7D-0B3F-470D-B9A7-8219E80D8E09}"/>
              </a:ext>
            </a:extLst>
          </p:cNvPr>
          <p:cNvSpPr>
            <a:spLocks xmlns:a="http://schemas.openxmlformats.org/drawingml/2006/main" noGrp="1"/>
          </p:cNvSpPr>
          <p:nvPr/>
        </p:nvSpPr>
        <p:spPr>
          <a:xfrm xmlns:a="http://schemas.openxmlformats.org/drawingml/2006/main">
            <a:off x="685800" y="15811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06471"/>
                </a:solidFill>
                <a:latin typeface="Helvetica Neue"/>
                <a:ea typeface="Helvetica Neue"/>
                <a:cs typeface="Helvetica Neue"/>
              </a:defRPr>
            </a:pPr>
            <a:r>
              <a:rPr sz="2025" b="0">
                <a:solidFill>
                  <a:srgbClr val="506471"/>
                </a:solidFill>
                <a:latin typeface="Helvetica Neue"/>
                <a:ea typeface="Helvetica Neue"/>
                <a:cs typeface="Helvetica Neue"/>
              </a:rPr>
              <a:t>Bind a signing wallet once and explore the API in your editor</a:t>
            </a:r>
          </a:p>
        </p:txBody>
      </p:sp>
      <p:sp>
        <p:nvSpPr>
          <p:cNvPr id="3" name="">
            <a:extLst xmlns:a="http://schemas.openxmlformats.org/drawingml/2006/main">
              <a:ext uri="{FF2B5EF4-FFF2-40B4-BE49-F238E27FC236}">
                <a16:creationId xmlns:a16="http://schemas.microsoft.com/office/drawing/2014/main" id="{0ECF7819-27D9-467E-BE93-968426F614F2}"/>
              </a:ext>
            </a:extLst>
          </p:cNvPr>
          <p:cNvSpPr>
            <a:spLocks xmlns:a="http://schemas.openxmlformats.org/drawingml/2006/main" noGrp="1"/>
          </p:cNvSpPr>
          <p:nvPr/>
        </p:nvSpPr>
        <p:spPr>
          <a:xfrm xmlns:a="http://schemas.openxmlformats.org/drawingml/2006/main">
            <a:off x="685800" y="62865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471"/>
                </a:solidFill>
                <a:latin typeface="Helvetica Neue"/>
                <a:ea typeface="Helvetica Neue"/>
                <a:cs typeface="Helvetica Neue"/>
              </a:defRPr>
            </a:pPr>
            <a:r>
              <a:rPr sz="1350" b="0">
                <a:solidFill>
                  <a:srgbClr val="506471"/>
                </a:solidFill>
                <a:latin typeface="Helvetica Neue"/>
                <a:ea typeface="Helvetica Neue"/>
                <a:cs typeface="Helvetica Neue"/>
              </a:rPr>
              <a:t>aha   /   Ripple DevRel   /   9</a:t>
            </a:r>
          </a:p>
        </p:txBody>
      </p:sp>
      <p:sp>
        <p:nvSpPr>
          <p:cNvPr id="4" name="">
            <a:extLst xmlns:a="http://schemas.openxmlformats.org/drawingml/2006/main">
              <a:ext uri="{FF2B5EF4-FFF2-40B4-BE49-F238E27FC236}">
                <a16:creationId xmlns:a16="http://schemas.microsoft.com/office/drawing/2014/main" id="{B22CA937-F556-4384-8C26-01037CF592E5}"/>
              </a:ext>
            </a:extLst>
          </p:cNvPr>
          <p:cNvSpPr>
            <a:spLocks xmlns:a="http://schemas.openxmlformats.org/drawingml/2006/main" noGrp="1"/>
          </p:cNvSpPr>
          <p:nvPr/>
        </p:nvSpPr>
        <p:spPr>
          <a:xfrm xmlns:a="http://schemas.openxmlformats.org/drawingml/2006/main">
            <a:off x="685800" y="2647950"/>
            <a:ext cx="523875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const client = new WalletClient(</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server, { wallet }</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await client.connect()</a:t>
            </a:r>
          </a:p>
          <a:p xmlns:a="http://schemas.openxmlformats.org/drawingml/2006/main">
            <a:r>
              <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const account = await client.command</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.accountInfo({</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account: client.wallet.address</a:t>
            </a:r>
          </a:p>
          <a:p xmlns:a="http://schemas.openxmlformats.org/drawingml/2006/main">
            <a:pPr>
              <a:defRPr sz="1725" b="0">
                <a:solidFill>
                  <a:srgbClr val="172F3F"/>
                </a:solidFill>
                <a:latin typeface="Menlo"/>
                <a:ea typeface="Menlo"/>
                <a:cs typeface="Menlo"/>
              </a:defRPr>
            </a:pPr>
            <a:r>
              <a:rPr sz="1725" b="0">
                <a:solidFill>
                  <a:srgbClr val="172F3F"/>
                </a:solidFill>
                <a:latin typeface="Menlo"/>
                <a:ea typeface="Menlo"/>
                <a:cs typeface="Menlo"/>
              </a:rPr>
              <a:t>  })</a:t>
            </a:r>
          </a:p>
        </p:txBody>
      </p:sp>
      <p:sp>
        <p:nvSpPr>
          <p:cNvPr id="5" name="">
            <a:extLst xmlns:a="http://schemas.openxmlformats.org/drawingml/2006/main">
              <a:ext uri="{FF2B5EF4-FFF2-40B4-BE49-F238E27FC236}">
                <a16:creationId xmlns:a16="http://schemas.microsoft.com/office/drawing/2014/main" id="{FCBF0A64-3A2C-4215-A74D-CE05F14A28E6}"/>
              </a:ext>
            </a:extLst>
          </p:cNvPr>
          <p:cNvSpPr>
            <a:spLocks xmlns:a="http://schemas.openxmlformats.org/drawingml/2006/main" noGrp="1"/>
          </p:cNvSpPr>
          <p:nvPr/>
        </p:nvSpPr>
        <p:spPr>
          <a:xfrm xmlns:a="http://schemas.openxmlformats.org/drawingml/2006/main">
            <a:off x="6762750" y="2571750"/>
            <a:ext cx="466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D7479"/>
                </a:solidFill>
                <a:latin typeface="Menlo"/>
                <a:ea typeface="Menlo"/>
                <a:cs typeface="Menlo"/>
              </a:defRPr>
            </a:pPr>
            <a:r>
              <a:rPr sz="2400" b="1">
                <a:solidFill>
                  <a:srgbClr val="1D7479"/>
                </a:solidFill>
                <a:latin typeface="Menlo"/>
                <a:ea typeface="Menlo"/>
                <a:cs typeface="Menlo"/>
              </a:rPr>
              <a:t>client.tx.</a:t>
            </a:r>
          </a:p>
        </p:txBody>
      </p:sp>
      <p:sp>
        <p:nvSpPr>
          <p:cNvPr id="6" name="">
            <a:extLst xmlns:a="http://schemas.openxmlformats.org/drawingml/2006/main">
              <a:ext uri="{FF2B5EF4-FFF2-40B4-BE49-F238E27FC236}">
                <a16:creationId xmlns:a16="http://schemas.microsoft.com/office/drawing/2014/main" id="{885689D3-89FC-426A-B620-A541E66F50F0}"/>
              </a:ext>
            </a:extLst>
          </p:cNvPr>
          <p:cNvSpPr>
            <a:spLocks xmlns:a="http://schemas.openxmlformats.org/drawingml/2006/main" noGrp="1"/>
          </p:cNvSpPr>
          <p:nvPr/>
        </p:nvSpPr>
        <p:spPr>
          <a:xfrm xmlns:a="http://schemas.openxmlformats.org/drawingml/2006/main">
            <a:off x="6762750" y="3105150"/>
            <a:ext cx="4667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F3F"/>
                </a:solidFill>
                <a:latin typeface="Helvetica Neue"/>
                <a:ea typeface="Helvetica Neue"/>
                <a:cs typeface="Helvetica Neue"/>
              </a:defRPr>
            </a:pPr>
            <a:r>
              <a:rPr sz="2025" b="0">
                <a:solidFill>
                  <a:srgbClr val="172F3F"/>
                </a:solidFill>
                <a:latin typeface="Helvetica Neue"/>
                <a:ea typeface="Helvetica Neue"/>
                <a:cs typeface="Helvetica Neue"/>
              </a:rPr>
              <a:t>78 transaction factories</a:t>
            </a:r>
          </a:p>
          <a:p xmlns:a="http://schemas.openxmlformats.org/drawingml/2006/main">
            <a:pPr>
              <a:defRPr sz="2025" b="0">
                <a:solidFill>
                  <a:srgbClr val="172F3F"/>
                </a:solidFill>
                <a:latin typeface="Helvetica Neue"/>
                <a:ea typeface="Helvetica Neue"/>
                <a:cs typeface="Helvetica Neue"/>
              </a:defRPr>
            </a:pPr>
            <a:r>
              <a:rPr sz="2025" b="0">
                <a:solidFill>
                  <a:srgbClr val="172F3F"/>
                </a:solidFill>
                <a:latin typeface="Helvetica Neue"/>
                <a:ea typeface="Helvetica Neue"/>
                <a:cs typeface="Helvetica Neue"/>
              </a:rPr>
              <a:t>payment, ammCreate,</a:t>
            </a:r>
          </a:p>
          <a:p xmlns:a="http://schemas.openxmlformats.org/drawingml/2006/main">
            <a:pPr>
              <a:defRPr sz="2025" b="0">
                <a:solidFill>
                  <a:srgbClr val="172F3F"/>
                </a:solidFill>
                <a:latin typeface="Helvetica Neue"/>
                <a:ea typeface="Helvetica Neue"/>
                <a:cs typeface="Helvetica Neue"/>
              </a:defRPr>
            </a:pPr>
            <a:r>
              <a:rPr sz="2025" b="0">
                <a:solidFill>
                  <a:srgbClr val="172F3F"/>
                </a:solidFill>
                <a:latin typeface="Helvetica Neue"/>
                <a:ea typeface="Helvetica Neue"/>
                <a:cs typeface="Helvetica Neue"/>
              </a:rPr>
              <a:t>mpTokenIssuanceCreate …</a:t>
            </a:r>
          </a:p>
        </p:txBody>
      </p:sp>
      <p:sp>
        <p:nvSpPr>
          <p:cNvPr id="7" name="">
            <a:extLst xmlns:a="http://schemas.openxmlformats.org/drawingml/2006/main">
              <a:ext uri="{FF2B5EF4-FFF2-40B4-BE49-F238E27FC236}">
                <a16:creationId xmlns:a16="http://schemas.microsoft.com/office/drawing/2014/main" id="{82B6CEC5-03FE-4D48-8C41-119F9B234160}"/>
              </a:ext>
            </a:extLst>
          </p:cNvPr>
          <p:cNvSpPr>
            <a:spLocks xmlns:a="http://schemas.openxmlformats.org/drawingml/2006/main" noGrp="1"/>
          </p:cNvSpPr>
          <p:nvPr/>
        </p:nvSpPr>
        <p:spPr>
          <a:xfrm xmlns:a="http://schemas.openxmlformats.org/drawingml/2006/main">
            <a:off x="6762750" y="4552950"/>
            <a:ext cx="466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D7479"/>
                </a:solidFill>
                <a:latin typeface="Menlo"/>
                <a:ea typeface="Menlo"/>
                <a:cs typeface="Menlo"/>
              </a:defRPr>
            </a:pPr>
            <a:r>
              <a:rPr sz="2400" b="1">
                <a:solidFill>
                  <a:srgbClr val="1D7479"/>
                </a:solidFill>
                <a:latin typeface="Menlo"/>
                <a:ea typeface="Menlo"/>
                <a:cs typeface="Menlo"/>
              </a:rPr>
              <a:t>client.command.</a:t>
            </a:r>
          </a:p>
        </p:txBody>
      </p:sp>
      <p:sp>
        <p:nvSpPr>
          <p:cNvPr id="8" name="">
            <a:extLst xmlns:a="http://schemas.openxmlformats.org/drawingml/2006/main">
              <a:ext uri="{FF2B5EF4-FFF2-40B4-BE49-F238E27FC236}">
                <a16:creationId xmlns:a16="http://schemas.microsoft.com/office/drawing/2014/main" id="{0B64696A-CB4A-4869-85A1-9B499DF08524}"/>
              </a:ext>
            </a:extLst>
          </p:cNvPr>
          <p:cNvSpPr>
            <a:spLocks xmlns:a="http://schemas.openxmlformats.org/drawingml/2006/main" noGrp="1"/>
          </p:cNvSpPr>
          <p:nvPr/>
        </p:nvSpPr>
        <p:spPr>
          <a:xfrm xmlns:a="http://schemas.openxmlformats.org/drawingml/2006/main">
            <a:off x="6762750" y="508635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F3F"/>
                </a:solidFill>
                <a:latin typeface="Helvetica Neue"/>
                <a:ea typeface="Helvetica Neue"/>
                <a:cs typeface="Helvetica Neue"/>
              </a:defRPr>
            </a:pPr>
            <a:r>
              <a:rPr sz="2025" b="0">
                <a:solidFill>
                  <a:srgbClr val="172F3F"/>
                </a:solidFill>
                <a:latin typeface="Helvetica Neue"/>
                <a:ea typeface="Helvetica Neue"/>
                <a:cs typeface="Helvetica Neue"/>
              </a:rPr>
              <a:t>45 request methods</a:t>
            </a:r>
          </a:p>
          <a:p xmlns:a="http://schemas.openxmlformats.org/drawingml/2006/main">
            <a:pPr>
              <a:defRPr sz="2025" b="0">
                <a:solidFill>
                  <a:srgbClr val="172F3F"/>
                </a:solidFill>
                <a:latin typeface="Helvetica Neue"/>
                <a:ea typeface="Helvetica Neue"/>
                <a:cs typeface="Helvetica Neue"/>
              </a:defRPr>
            </a:pPr>
            <a:r>
              <a:rPr sz="2025" b="0">
                <a:solidFill>
                  <a:srgbClr val="172F3F"/>
                </a:solidFill>
                <a:latin typeface="Helvetica Neue"/>
                <a:ea typeface="Helvetica Neue"/>
                <a:cs typeface="Helvetica Neue"/>
              </a:rPr>
              <a:t>accountInfo, ledgerEntry, tx …</a:t>
            </a:r>
          </a:p>
        </p:txBody>
      </p:sp>
    </p:spTree>
    <p:extLst>
      <p:ext uri="{BB962C8B-B14F-4D97-AF65-F5344CB8AC3E}">
        <p14:creationId xmlns:p14="http://schemas.microsoft.com/office/powerpoint/2010/main" val="1111584951"/>
      </p:ext>
    </p:extLst>
  </p:cSld>
</p:sld>
</file>

<file path=ppt/slides/slide10.xml><?xml version="1.0" encoding="utf-8"?>
<p:sld xmlns:p="http://schemas.openxmlformats.org/presentationml/2006/main">
  <p:cSld>
    <p:bg>
      <p:bgPr>
        <a:solidFill xmlns:a="http://schemas.openxmlformats.org/drawingml/2006/main">
          <a:srgbClr val="F8F8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A4A57AF-B722-41EF-BA32-242FA164F22A}"/>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F"/>
                </a:solidFill>
                <a:latin typeface="Helvetica Neue"/>
                <a:ea typeface="Helvetica Neue"/>
                <a:cs typeface="Helvetica Neue"/>
              </a:defRPr>
            </a:pPr>
            <a:r>
              <a:rPr sz="3450" b="1">
                <a:solidFill>
                  <a:srgbClr val="172F3F"/>
                </a:solidFill>
                <a:latin typeface="Helvetica Neue"/>
                <a:ea typeface="Helvetica Neue"/>
                <a:cs typeface="Helvetica Neue"/>
              </a:rPr>
              <a:t>Public examples become evidence</a:t>
            </a:r>
          </a:p>
        </p:txBody>
      </p:sp>
      <p:sp>
        <p:nvSpPr>
          <p:cNvPr id="2" name="">
            <a:extLst xmlns:a="http://schemas.openxmlformats.org/drawingml/2006/main">
              <a:ext uri="{FF2B5EF4-FFF2-40B4-BE49-F238E27FC236}">
                <a16:creationId xmlns:a16="http://schemas.microsoft.com/office/drawing/2014/main" id="{370DE32D-8208-4D9B-B27C-1258C8DC8140}"/>
              </a:ext>
            </a:extLst>
          </p:cNvPr>
          <p:cNvSpPr>
            <a:spLocks xmlns:a="http://schemas.openxmlformats.org/drawingml/2006/main" noGrp="1"/>
          </p:cNvSpPr>
          <p:nvPr/>
        </p:nvSpPr>
        <p:spPr>
          <a:xfrm xmlns:a="http://schemas.openxmlformats.org/drawingml/2006/main">
            <a:off x="685800" y="15811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06471"/>
                </a:solidFill>
                <a:latin typeface="Helvetica Neue"/>
                <a:ea typeface="Helvetica Neue"/>
                <a:cs typeface="Helvetica Neue"/>
              </a:defRPr>
            </a:pPr>
            <a:r>
              <a:rPr sz="2025" b="0">
                <a:solidFill>
                  <a:srgbClr val="506471"/>
                </a:solidFill>
                <a:latin typeface="Helvetica Neue"/>
                <a:ea typeface="Helvetica Neue"/>
                <a:cs typeface="Helvetica Neue"/>
              </a:rPr>
              <a:t>Current-release fixes and SDK-dependent improvements are clearly separated</a:t>
            </a:r>
          </a:p>
        </p:txBody>
      </p:sp>
      <p:sp>
        <p:nvSpPr>
          <p:cNvPr id="3" name="">
            <a:extLst xmlns:a="http://schemas.openxmlformats.org/drawingml/2006/main">
              <a:ext uri="{FF2B5EF4-FFF2-40B4-BE49-F238E27FC236}">
                <a16:creationId xmlns:a16="http://schemas.microsoft.com/office/drawing/2014/main" id="{89A7B309-8DC5-49E2-BB21-E70999ED37B9}"/>
              </a:ext>
            </a:extLst>
          </p:cNvPr>
          <p:cNvSpPr>
            <a:spLocks xmlns:a="http://schemas.openxmlformats.org/drawingml/2006/main" noGrp="1"/>
          </p:cNvSpPr>
          <p:nvPr/>
        </p:nvSpPr>
        <p:spPr>
          <a:xfrm xmlns:a="http://schemas.openxmlformats.org/drawingml/2006/main">
            <a:off x="685800" y="62865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471"/>
                </a:solidFill>
                <a:latin typeface="Helvetica Neue"/>
                <a:ea typeface="Helvetica Neue"/>
                <a:cs typeface="Helvetica Neue"/>
              </a:defRPr>
            </a:pPr>
            <a:r>
              <a:rPr sz="1350" b="0">
                <a:solidFill>
                  <a:srgbClr val="506471"/>
                </a:solidFill>
                <a:latin typeface="Helvetica Neue"/>
                <a:ea typeface="Helvetica Neue"/>
                <a:cs typeface="Helvetica Neue"/>
              </a:rPr>
              <a:t>aha   /   Ripple DevRel   /   10</a:t>
            </a:r>
          </a:p>
        </p:txBody>
      </p:sp>
      <p:sp>
        <p:nvSpPr>
          <p:cNvPr id="4" name="">
            <a:extLst xmlns:a="http://schemas.openxmlformats.org/drawingml/2006/main">
              <a:ext uri="{FF2B5EF4-FFF2-40B4-BE49-F238E27FC236}">
                <a16:creationId xmlns:a16="http://schemas.microsoft.com/office/drawing/2014/main" id="{7FBC9B83-DDAC-46D4-B66F-98F93ACBCDC5}"/>
              </a:ext>
            </a:extLst>
          </p:cNvPr>
          <p:cNvSpPr>
            <a:spLocks xmlns:a="http://schemas.openxmlformats.org/drawingml/2006/main" noGrp="1"/>
          </p:cNvSpPr>
          <p:nvPr/>
        </p:nvSpPr>
        <p:spPr>
          <a:xfrm xmlns:a="http://schemas.openxmlformats.org/drawingml/2006/main">
            <a:off x="685800" y="247650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D7479"/>
                </a:solidFill>
                <a:latin typeface="Helvetica Neue"/>
                <a:ea typeface="Helvetica Neue"/>
                <a:cs typeface="Helvetica Neue"/>
              </a:defRPr>
            </a:pPr>
            <a:r>
              <a:rPr sz="2250" b="1">
                <a:solidFill>
                  <a:srgbClr val="1D7479"/>
                </a:solidFill>
                <a:latin typeface="Helvetica Neue"/>
                <a:ea typeface="Helvetica Neue"/>
                <a:cs typeface="Helvetica Neue"/>
              </a:rPr>
              <a:t>Get Started</a:t>
            </a:r>
          </a:p>
        </p:txBody>
      </p:sp>
      <p:sp>
        <p:nvSpPr>
          <p:cNvPr id="5" name="">
            <a:extLst xmlns:a="http://schemas.openxmlformats.org/drawingml/2006/main">
              <a:ext uri="{FF2B5EF4-FFF2-40B4-BE49-F238E27FC236}">
                <a16:creationId xmlns:a16="http://schemas.microsoft.com/office/drawing/2014/main" id="{BBDDEA65-3A52-462A-9DC3-0EDD62B4AAA8}"/>
              </a:ext>
            </a:extLst>
          </p:cNvPr>
          <p:cNvSpPr>
            <a:spLocks xmlns:a="http://schemas.openxmlformats.org/drawingml/2006/main" noGrp="1"/>
          </p:cNvSpPr>
          <p:nvPr/>
        </p:nvSpPr>
        <p:spPr>
          <a:xfrm xmlns:a="http://schemas.openxmlformats.org/drawingml/2006/main">
            <a:off x="3714750" y="2476500"/>
            <a:ext cx="771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F"/>
                </a:solidFill>
                <a:latin typeface="Helvetica Neue"/>
                <a:ea typeface="Helvetica Neue"/>
                <a:cs typeface="Helvetica Neue"/>
              </a:defRPr>
            </a:pPr>
            <a:r>
              <a:rPr sz="2100" b="0">
                <a:solidFill>
                  <a:srgbClr val="172F3F"/>
                </a:solidFill>
                <a:latin typeface="Helvetica Neue"/>
                <a:ea typeface="Helvetica Neue"/>
                <a:cs typeface="Helvetica Neue"/>
              </a:rPr>
              <a:t>Discover transactions and commands in the editor</a:t>
            </a:r>
          </a:p>
        </p:txBody>
      </p:sp>
      <p:sp>
        <p:nvSpPr>
          <p:cNvPr id="6" name="">
            <a:extLst xmlns:a="http://schemas.openxmlformats.org/drawingml/2006/main">
              <a:ext uri="{FF2B5EF4-FFF2-40B4-BE49-F238E27FC236}">
                <a16:creationId xmlns:a16="http://schemas.microsoft.com/office/drawing/2014/main" id="{1F36DB95-440B-4777-9087-52DCF8843B22}"/>
              </a:ext>
            </a:extLst>
          </p:cNvPr>
          <p:cNvSpPr>
            <a:spLocks xmlns:a="http://schemas.openxmlformats.org/drawingml/2006/main" noGrp="1"/>
          </p:cNvSpPr>
          <p:nvPr/>
        </p:nvSpPr>
        <p:spPr>
          <a:xfrm xmlns:a="http://schemas.openxmlformats.org/drawingml/2006/main">
            <a:off x="685800" y="323850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D7479"/>
                </a:solidFill>
                <a:latin typeface="Helvetica Neue"/>
                <a:ea typeface="Helvetica Neue"/>
                <a:cs typeface="Helvetica Neue"/>
              </a:defRPr>
            </a:pPr>
            <a:r>
              <a:rPr sz="2250" b="1">
                <a:solidFill>
                  <a:srgbClr val="1D7479"/>
                </a:solidFill>
                <a:latin typeface="Helvetica Neue"/>
                <a:ea typeface="Helvetica Neue"/>
                <a:cs typeface="Helvetica Neue"/>
              </a:rPr>
              <a:t>MPT issuance</a:t>
            </a:r>
          </a:p>
        </p:txBody>
      </p:sp>
      <p:sp>
        <p:nvSpPr>
          <p:cNvPr id="7" name="">
            <a:extLst xmlns:a="http://schemas.openxmlformats.org/drawingml/2006/main">
              <a:ext uri="{FF2B5EF4-FFF2-40B4-BE49-F238E27FC236}">
                <a16:creationId xmlns:a16="http://schemas.microsoft.com/office/drawing/2014/main" id="{CEA575DA-8EC1-4564-B5F7-7EF4F80B53C3}"/>
              </a:ext>
            </a:extLst>
          </p:cNvPr>
          <p:cNvSpPr>
            <a:spLocks xmlns:a="http://schemas.openxmlformats.org/drawingml/2006/main" noGrp="1"/>
          </p:cNvSpPr>
          <p:nvPr/>
        </p:nvSpPr>
        <p:spPr>
          <a:xfrm xmlns:a="http://schemas.openxmlformats.org/drawingml/2006/main">
            <a:off x="3714750" y="3238500"/>
            <a:ext cx="771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F"/>
                </a:solidFill>
                <a:latin typeface="Helvetica Neue"/>
                <a:ea typeface="Helvetica Neue"/>
                <a:cs typeface="Helvetica Neue"/>
              </a:defRPr>
            </a:pPr>
            <a:r>
              <a:rPr sz="2100" b="0">
                <a:solidFill>
                  <a:srgbClr val="172F3F"/>
                </a:solidFill>
                <a:latin typeface="Helvetica Neue"/>
                <a:ea typeface="Helvetica Neue"/>
                <a:cs typeface="Helvetica Neue"/>
              </a:rPr>
              <a:t>Create, inspect, update and confirm metadata</a:t>
            </a:r>
          </a:p>
        </p:txBody>
      </p:sp>
      <p:sp>
        <p:nvSpPr>
          <p:cNvPr id="8" name="">
            <a:extLst xmlns:a="http://schemas.openxmlformats.org/drawingml/2006/main">
              <a:ext uri="{FF2B5EF4-FFF2-40B4-BE49-F238E27FC236}">
                <a16:creationId xmlns:a16="http://schemas.microsoft.com/office/drawing/2014/main" id="{7F2CF5CB-B153-41E2-B0B0-A0EAC96D69A9}"/>
              </a:ext>
            </a:extLst>
          </p:cNvPr>
          <p:cNvSpPr>
            <a:spLocks xmlns:a="http://schemas.openxmlformats.org/drawingml/2006/main" noGrp="1"/>
          </p:cNvSpPr>
          <p:nvPr/>
        </p:nvSpPr>
        <p:spPr>
          <a:xfrm xmlns:a="http://schemas.openxmlformats.org/drawingml/2006/main">
            <a:off x="685800" y="400050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D7479"/>
                </a:solidFill>
                <a:latin typeface="Helvetica Neue"/>
                <a:ea typeface="Helvetica Neue"/>
                <a:cs typeface="Helvetica Neue"/>
              </a:defRPr>
            </a:pPr>
            <a:r>
              <a:rPr sz="2250" b="1">
                <a:solidFill>
                  <a:srgbClr val="1D7479"/>
                </a:solidFill>
                <a:latin typeface="Helvetica Neue"/>
                <a:ea typeface="Helvetica Neue"/>
                <a:cs typeface="Helvetica Neue"/>
              </a:rPr>
              <a:t>Send XRP</a:t>
            </a:r>
          </a:p>
        </p:txBody>
      </p:sp>
      <p:sp>
        <p:nvSpPr>
          <p:cNvPr id="9" name="">
            <a:extLst xmlns:a="http://schemas.openxmlformats.org/drawingml/2006/main">
              <a:ext uri="{FF2B5EF4-FFF2-40B4-BE49-F238E27FC236}">
                <a16:creationId xmlns:a16="http://schemas.microsoft.com/office/drawing/2014/main" id="{DD78DD38-3999-4C57-8269-A6E1B75C6E75}"/>
              </a:ext>
            </a:extLst>
          </p:cNvPr>
          <p:cNvSpPr>
            <a:spLocks xmlns:a="http://schemas.openxmlformats.org/drawingml/2006/main" noGrp="1"/>
          </p:cNvSpPr>
          <p:nvPr/>
        </p:nvSpPr>
        <p:spPr>
          <a:xfrm xmlns:a="http://schemas.openxmlformats.org/drawingml/2006/main">
            <a:off x="3714750" y="4000500"/>
            <a:ext cx="771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F"/>
                </a:solidFill>
                <a:latin typeface="Helvetica Neue"/>
                <a:ea typeface="Helvetica Neue"/>
                <a:cs typeface="Helvetica Neue"/>
              </a:defRPr>
            </a:pPr>
            <a:r>
              <a:rPr sz="2100" b="0">
                <a:solidFill>
                  <a:srgbClr val="172F3F"/>
                </a:solidFill>
                <a:latin typeface="Helvetica Neue"/>
                <a:ea typeface="Helvetica Neue"/>
                <a:cs typeface="Helvetica Neue"/>
              </a:rPr>
              <a:t>Prepare, sign and confirm the same transaction</a:t>
            </a:r>
          </a:p>
        </p:txBody>
      </p:sp>
      <p:sp>
        <p:nvSpPr>
          <p:cNvPr id="10" name="">
            <a:extLst xmlns:a="http://schemas.openxmlformats.org/drawingml/2006/main">
              <a:ext uri="{FF2B5EF4-FFF2-40B4-BE49-F238E27FC236}">
                <a16:creationId xmlns:a16="http://schemas.microsoft.com/office/drawing/2014/main" id="{BBA726AF-C90C-4367-9582-A9B5E78C1C6A}"/>
              </a:ext>
            </a:extLst>
          </p:cNvPr>
          <p:cNvSpPr>
            <a:spLocks xmlns:a="http://schemas.openxmlformats.org/drawingml/2006/main" noGrp="1"/>
          </p:cNvSpPr>
          <p:nvPr/>
        </p:nvSpPr>
        <p:spPr>
          <a:xfrm xmlns:a="http://schemas.openxmlformats.org/drawingml/2006/main">
            <a:off x="685800" y="476250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D7479"/>
                </a:solidFill>
                <a:latin typeface="Helvetica Neue"/>
                <a:ea typeface="Helvetica Neue"/>
                <a:cs typeface="Helvetica Neue"/>
              </a:defRPr>
            </a:pPr>
            <a:r>
              <a:rPr sz="2250" b="1">
                <a:solidFill>
                  <a:srgbClr val="1D7479"/>
                </a:solidFill>
                <a:latin typeface="Helvetica Neue"/>
                <a:ea typeface="Helvetica Neue"/>
                <a:cs typeface="Helvetica Neue"/>
              </a:rPr>
              <a:t>Create AMM</a:t>
            </a:r>
          </a:p>
        </p:txBody>
      </p:sp>
      <p:sp>
        <p:nvSpPr>
          <p:cNvPr id="11" name="">
            <a:extLst xmlns:a="http://schemas.openxmlformats.org/drawingml/2006/main">
              <a:ext uri="{FF2B5EF4-FFF2-40B4-BE49-F238E27FC236}">
                <a16:creationId xmlns:a16="http://schemas.microsoft.com/office/drawing/2014/main" id="{4FA63FE6-9B23-4C2B-84AD-DB78255EBE08}"/>
              </a:ext>
            </a:extLst>
          </p:cNvPr>
          <p:cNvSpPr>
            <a:spLocks xmlns:a="http://schemas.openxmlformats.org/drawingml/2006/main" noGrp="1"/>
          </p:cNvSpPr>
          <p:nvPr/>
        </p:nvSpPr>
        <p:spPr>
          <a:xfrm xmlns:a="http://schemas.openxmlformats.org/drawingml/2006/main">
            <a:off x="3714750" y="4762500"/>
            <a:ext cx="771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F"/>
                </a:solidFill>
                <a:latin typeface="Helvetica Neue"/>
                <a:ea typeface="Helvetica Neue"/>
                <a:cs typeface="Helvetica Neue"/>
              </a:defRPr>
            </a:pPr>
            <a:r>
              <a:rPr sz="2100" b="0">
                <a:solidFill>
                  <a:srgbClr val="172F3F"/>
                </a:solidFill>
                <a:latin typeface="Helvetica Neue"/>
                <a:ea typeface="Helvetica Neue"/>
                <a:cs typeface="Helvetica Neue"/>
              </a:rPr>
              <a:t>Typed setup and SDK-checked success at each step</a:t>
            </a:r>
          </a:p>
        </p:txBody>
      </p:sp>
      <p:sp>
        <p:nvSpPr>
          <p:cNvPr id="12" name="">
            <a:extLst xmlns:a="http://schemas.openxmlformats.org/drawingml/2006/main">
              <a:ext uri="{FF2B5EF4-FFF2-40B4-BE49-F238E27FC236}">
                <a16:creationId xmlns:a16="http://schemas.microsoft.com/office/drawing/2014/main" id="{DB0CA5DD-5CF2-45C0-B991-590D0EF8FC60}"/>
              </a:ext>
            </a:extLst>
          </p:cNvPr>
          <p:cNvSpPr>
            <a:spLocks xmlns:a="http://schemas.openxmlformats.org/drawingml/2006/main" noGrp="1"/>
          </p:cNvSpPr>
          <p:nvPr/>
        </p:nvSpPr>
        <p:spPr>
          <a:xfrm xmlns:a="http://schemas.openxmlformats.org/drawingml/2006/main">
            <a:off x="685800" y="571500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471"/>
                </a:solidFill>
                <a:latin typeface="Helvetica Neue"/>
                <a:ea typeface="Helvetica Neue"/>
                <a:cs typeface="Helvetica Neue"/>
              </a:defRPr>
            </a:pPr>
            <a:r>
              <a:rPr sz="1800" b="0">
                <a:solidFill>
                  <a:srgbClr val="506471"/>
                </a:solidFill>
                <a:latin typeface="Helvetica Neue"/>
                <a:ea typeface="Helvetica Neue"/>
                <a:cs typeface="Helvetica Neue"/>
              </a:rPr>
              <a:t>Five other legacy families and the original broad AMM example still need remediation.</a:t>
            </a:r>
          </a:p>
        </p:txBody>
      </p:sp>
    </p:spTree>
    <p:extLst>
      <p:ext uri="{BB962C8B-B14F-4D97-AF65-F5344CB8AC3E}">
        <p14:creationId xmlns:p14="http://schemas.microsoft.com/office/powerpoint/2010/main" val="1124182474"/>
      </p:ext>
    </p:extLst>
  </p:cSld>
</p:sld>
</file>

<file path=ppt/slides/slide11.xml><?xml version="1.0" encoding="utf-8"?>
<p:sld xmlns:p="http://schemas.openxmlformats.org/presentationml/2006/main">
  <p:cSld>
    <p:bg>
      <p:bgPr>
        <a:solidFill xmlns:a="http://schemas.openxmlformats.org/drawingml/2006/main">
          <a:srgbClr val="F8F8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BA4FE8C-6C0D-4E20-95FC-DC8587B3B4B6}"/>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F"/>
                </a:solidFill>
                <a:latin typeface="Helvetica Neue"/>
                <a:ea typeface="Helvetica Neue"/>
                <a:cs typeface="Helvetica Neue"/>
              </a:defRPr>
            </a:pPr>
            <a:r>
              <a:rPr sz="3450" b="1">
                <a:solidFill>
                  <a:srgbClr val="172F3F"/>
                </a:solidFill>
                <a:latin typeface="Helvetica Neue"/>
                <a:ea typeface="Helvetica Neue"/>
                <a:cs typeface="Helvetica Neue"/>
              </a:rPr>
              <a:t>Apply the same standard broadly</a:t>
            </a:r>
          </a:p>
        </p:txBody>
      </p:sp>
      <p:sp>
        <p:nvSpPr>
          <p:cNvPr id="2" name="">
            <a:extLst xmlns:a="http://schemas.openxmlformats.org/drawingml/2006/main">
              <a:ext uri="{FF2B5EF4-FFF2-40B4-BE49-F238E27FC236}">
                <a16:creationId xmlns:a16="http://schemas.microsoft.com/office/drawing/2014/main" id="{84951918-6A4F-4100-9167-8F6B88468CF8}"/>
              </a:ext>
            </a:extLst>
          </p:cNvPr>
          <p:cNvSpPr>
            <a:spLocks xmlns:a="http://schemas.openxmlformats.org/drawingml/2006/main" noGrp="1"/>
          </p:cNvSpPr>
          <p:nvPr/>
        </p:nvSpPr>
        <p:spPr>
          <a:xfrm xmlns:a="http://schemas.openxmlformats.org/drawingml/2006/main">
            <a:off x="685800" y="62865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471"/>
                </a:solidFill>
                <a:latin typeface="Helvetica Neue"/>
                <a:ea typeface="Helvetica Neue"/>
                <a:cs typeface="Helvetica Neue"/>
              </a:defRPr>
            </a:pPr>
            <a:r>
              <a:rPr sz="1350" b="0">
                <a:solidFill>
                  <a:srgbClr val="506471"/>
                </a:solidFill>
                <a:latin typeface="Helvetica Neue"/>
                <a:ea typeface="Helvetica Neue"/>
                <a:cs typeface="Helvetica Neue"/>
              </a:rPr>
              <a:t>aha   /   Ripple DevRel   /   11</a:t>
            </a:r>
          </a:p>
        </p:txBody>
      </p:sp>
      <p:sp>
        <p:nvSpPr>
          <p:cNvPr id="3" name="">
            <a:extLst xmlns:a="http://schemas.openxmlformats.org/drawingml/2006/main">
              <a:ext uri="{FF2B5EF4-FFF2-40B4-BE49-F238E27FC236}">
                <a16:creationId xmlns:a16="http://schemas.microsoft.com/office/drawing/2014/main" id="{2ABDD374-94E8-4FFF-AD21-734B0F10A012}"/>
              </a:ext>
            </a:extLst>
          </p:cNvPr>
          <p:cNvSpPr>
            <a:spLocks xmlns:a="http://schemas.openxmlformats.org/drawingml/2006/main" noGrp="1"/>
          </p:cNvSpPr>
          <p:nvPr/>
        </p:nvSpPr>
        <p:spPr>
          <a:xfrm xmlns:a="http://schemas.openxmlformats.org/drawingml/2006/main">
            <a:off x="685800" y="2095500"/>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D7479"/>
                </a:solidFill>
                <a:latin typeface="Helvetica Neue"/>
                <a:ea typeface="Helvetica Neue"/>
                <a:cs typeface="Helvetica Neue"/>
              </a:defRPr>
            </a:pPr>
            <a:r>
              <a:rPr sz="2325" b="1">
                <a:solidFill>
                  <a:srgbClr val="1D7479"/>
                </a:solidFill>
                <a:latin typeface="Helvetica Neue"/>
                <a:ea typeface="Helvetica Neue"/>
                <a:cs typeface="Helvetica Neue"/>
              </a:rPr>
              <a:t>Events</a:t>
            </a:r>
          </a:p>
        </p:txBody>
      </p:sp>
      <p:sp>
        <p:nvSpPr>
          <p:cNvPr id="4" name="">
            <a:extLst xmlns:a="http://schemas.openxmlformats.org/drawingml/2006/main">
              <a:ext uri="{FF2B5EF4-FFF2-40B4-BE49-F238E27FC236}">
                <a16:creationId xmlns:a16="http://schemas.microsoft.com/office/drawing/2014/main" id="{6AC2F033-9041-42D6-A8D2-71131F3DA1CD}"/>
              </a:ext>
            </a:extLst>
          </p:cNvPr>
          <p:cNvSpPr>
            <a:spLocks xmlns:a="http://schemas.openxmlformats.org/drawingml/2006/main" noGrp="1"/>
          </p:cNvSpPr>
          <p:nvPr/>
        </p:nvSpPr>
        <p:spPr>
          <a:xfrm xmlns:a="http://schemas.openxmlformats.org/drawingml/2006/main">
            <a:off x="4000500" y="2095500"/>
            <a:ext cx="7381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F3F"/>
                </a:solidFill>
                <a:latin typeface="Helvetica Neue"/>
                <a:ea typeface="Helvetica Neue"/>
                <a:cs typeface="Helvetica Neue"/>
              </a:defRPr>
            </a:pPr>
            <a:r>
              <a:rPr sz="2175" b="0">
                <a:solidFill>
                  <a:srgbClr val="172F3F"/>
                </a:solidFill>
                <a:latin typeface="Helvetica Neue"/>
                <a:ea typeface="Helvetica Neue"/>
                <a:cs typeface="Helvetica Neue"/>
              </a:rPr>
              <a:t>Consistent payload types for on, once and aliases</a:t>
            </a:r>
          </a:p>
        </p:txBody>
      </p:sp>
      <p:sp>
        <p:nvSpPr>
          <p:cNvPr id="5" name="">
            <a:extLst xmlns:a="http://schemas.openxmlformats.org/drawingml/2006/main">
              <a:ext uri="{FF2B5EF4-FFF2-40B4-BE49-F238E27FC236}">
                <a16:creationId xmlns:a16="http://schemas.microsoft.com/office/drawing/2014/main" id="{FAEA54C8-B4D0-460A-BCCD-FBA7D6E127A0}"/>
              </a:ext>
            </a:extLst>
          </p:cNvPr>
          <p:cNvSpPr>
            <a:spLocks xmlns:a="http://schemas.openxmlformats.org/drawingml/2006/main" noGrp="1"/>
          </p:cNvSpPr>
          <p:nvPr/>
        </p:nvSpPr>
        <p:spPr>
          <a:xfrm xmlns:a="http://schemas.openxmlformats.org/drawingml/2006/main">
            <a:off x="685800" y="2990850"/>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D7479"/>
                </a:solidFill>
                <a:latin typeface="Helvetica Neue"/>
                <a:ea typeface="Helvetica Neue"/>
                <a:cs typeface="Helvetica Neue"/>
              </a:defRPr>
            </a:pPr>
            <a:r>
              <a:rPr sz="2325" b="1">
                <a:solidFill>
                  <a:srgbClr val="1D7479"/>
                </a:solidFill>
                <a:latin typeface="Helvetica Neue"/>
                <a:ea typeface="Helvetica Neue"/>
                <a:cs typeface="Helvetica Neue"/>
              </a:rPr>
              <a:t>Pagination</a:t>
            </a:r>
          </a:p>
        </p:txBody>
      </p:sp>
      <p:sp>
        <p:nvSpPr>
          <p:cNvPr id="6" name="">
            <a:extLst xmlns:a="http://schemas.openxmlformats.org/drawingml/2006/main">
              <a:ext uri="{FF2B5EF4-FFF2-40B4-BE49-F238E27FC236}">
                <a16:creationId xmlns:a16="http://schemas.microsoft.com/office/drawing/2014/main" id="{797A4DEA-D327-4C69-8E41-0E9354445D92}"/>
              </a:ext>
            </a:extLst>
          </p:cNvPr>
          <p:cNvSpPr>
            <a:spLocks xmlns:a="http://schemas.openxmlformats.org/drawingml/2006/main" noGrp="1"/>
          </p:cNvSpPr>
          <p:nvPr/>
        </p:nvSpPr>
        <p:spPr>
          <a:xfrm xmlns:a="http://schemas.openxmlformats.org/drawingml/2006/main">
            <a:off x="4000500" y="2990850"/>
            <a:ext cx="7381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F3F"/>
                </a:solidFill>
                <a:latin typeface="Helvetica Neue"/>
                <a:ea typeface="Helvetica Neue"/>
                <a:cs typeface="Helvetica Neue"/>
              </a:defRPr>
            </a:pPr>
            <a:r>
              <a:rPr sz="2175" b="0">
                <a:solidFill>
                  <a:srgbClr val="172F3F"/>
                </a:solidFill>
                <a:latin typeface="Helvetica Neue"/>
                <a:ea typeface="Helvetica Neue"/>
                <a:cs typeface="Helvetica Neue"/>
              </a:rPr>
              <a:t>Supported commands with predictable defaults</a:t>
            </a:r>
          </a:p>
        </p:txBody>
      </p:sp>
      <p:sp>
        <p:nvSpPr>
          <p:cNvPr id="7" name="">
            <a:extLst xmlns:a="http://schemas.openxmlformats.org/drawingml/2006/main">
              <a:ext uri="{FF2B5EF4-FFF2-40B4-BE49-F238E27FC236}">
                <a16:creationId xmlns:a16="http://schemas.microsoft.com/office/drawing/2014/main" id="{BB67102A-74A4-47DC-AB2A-2EBA1C78C68B}"/>
              </a:ext>
            </a:extLst>
          </p:cNvPr>
          <p:cNvSpPr>
            <a:spLocks xmlns:a="http://schemas.openxmlformats.org/drawingml/2006/main" noGrp="1"/>
          </p:cNvSpPr>
          <p:nvPr/>
        </p:nvSpPr>
        <p:spPr>
          <a:xfrm xmlns:a="http://schemas.openxmlformats.org/drawingml/2006/main">
            <a:off x="685800" y="3886200"/>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D7479"/>
                </a:solidFill>
                <a:latin typeface="Helvetica Neue"/>
                <a:ea typeface="Helvetica Neue"/>
                <a:cs typeface="Helvetica Neue"/>
              </a:defRPr>
            </a:pPr>
            <a:r>
              <a:rPr sz="2325" b="1">
                <a:solidFill>
                  <a:srgbClr val="1D7479"/>
                </a:solidFill>
                <a:latin typeface="Helvetica Neue"/>
                <a:ea typeface="Helvetica Neue"/>
                <a:cs typeface="Helvetica Neue"/>
              </a:rPr>
              <a:t>Recovery</a:t>
            </a:r>
          </a:p>
        </p:txBody>
      </p:sp>
      <p:sp>
        <p:nvSpPr>
          <p:cNvPr id="8" name="">
            <a:extLst xmlns:a="http://schemas.openxmlformats.org/drawingml/2006/main">
              <a:ext uri="{FF2B5EF4-FFF2-40B4-BE49-F238E27FC236}">
                <a16:creationId xmlns:a16="http://schemas.microsoft.com/office/drawing/2014/main" id="{14CB3AB0-DC7E-486A-AF0D-569A4CF2A1A0}"/>
              </a:ext>
            </a:extLst>
          </p:cNvPr>
          <p:cNvSpPr>
            <a:spLocks xmlns:a="http://schemas.openxmlformats.org/drawingml/2006/main" noGrp="1"/>
          </p:cNvSpPr>
          <p:nvPr/>
        </p:nvSpPr>
        <p:spPr>
          <a:xfrm xmlns:a="http://schemas.openxmlformats.org/drawingml/2006/main">
            <a:off x="4000500" y="3886200"/>
            <a:ext cx="7381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F3F"/>
                </a:solidFill>
                <a:latin typeface="Helvetica Neue"/>
                <a:ea typeface="Helvetica Neue"/>
                <a:cs typeface="Helvetica Neue"/>
              </a:defRPr>
            </a:pPr>
            <a:r>
              <a:rPr sz="2175" b="0">
                <a:solidFill>
                  <a:srgbClr val="172F3F"/>
                </a:solidFill>
                <a:latin typeface="Helvetica Neue"/>
                <a:ea typeface="Helvetica Neue"/>
                <a:cs typeface="Helvetica Neue"/>
              </a:rPr>
              <a:t>Checked error fields and validated decoding paths</a:t>
            </a:r>
          </a:p>
        </p:txBody>
      </p:sp>
      <p:sp>
        <p:nvSpPr>
          <p:cNvPr id="9" name="">
            <a:extLst xmlns:a="http://schemas.openxmlformats.org/drawingml/2006/main">
              <a:ext uri="{FF2B5EF4-FFF2-40B4-BE49-F238E27FC236}">
                <a16:creationId xmlns:a16="http://schemas.microsoft.com/office/drawing/2014/main" id="{D811C4DE-E61A-4236-BB23-90D735029CA7}"/>
              </a:ext>
            </a:extLst>
          </p:cNvPr>
          <p:cNvSpPr>
            <a:spLocks xmlns:a="http://schemas.openxmlformats.org/drawingml/2006/main" noGrp="1"/>
          </p:cNvSpPr>
          <p:nvPr/>
        </p:nvSpPr>
        <p:spPr>
          <a:xfrm xmlns:a="http://schemas.openxmlformats.org/drawingml/2006/main">
            <a:off x="685800" y="4781550"/>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D7479"/>
                </a:solidFill>
                <a:latin typeface="Helvetica Neue"/>
                <a:ea typeface="Helvetica Neue"/>
                <a:cs typeface="Helvetica Neue"/>
              </a:defRPr>
            </a:pPr>
            <a:r>
              <a:rPr sz="2325" b="1">
                <a:solidFill>
                  <a:srgbClr val="1D7479"/>
                </a:solidFill>
                <a:latin typeface="Helvetica Neue"/>
                <a:ea typeface="Helvetica Neue"/>
                <a:cs typeface="Helvetica Neue"/>
              </a:rPr>
              <a:t>Value handling</a:t>
            </a:r>
          </a:p>
        </p:txBody>
      </p:sp>
      <p:sp>
        <p:nvSpPr>
          <p:cNvPr id="10" name="">
            <a:extLst xmlns:a="http://schemas.openxmlformats.org/drawingml/2006/main">
              <a:ext uri="{FF2B5EF4-FFF2-40B4-BE49-F238E27FC236}">
                <a16:creationId xmlns:a16="http://schemas.microsoft.com/office/drawing/2014/main" id="{26C2A524-9E46-463C-B354-82750FD5DC79}"/>
              </a:ext>
            </a:extLst>
          </p:cNvPr>
          <p:cNvSpPr>
            <a:spLocks xmlns:a="http://schemas.openxmlformats.org/drawingml/2006/main" noGrp="1"/>
          </p:cNvSpPr>
          <p:nvPr/>
        </p:nvSpPr>
        <p:spPr>
          <a:xfrm xmlns:a="http://schemas.openxmlformats.org/drawingml/2006/main">
            <a:off x="4000500" y="4781550"/>
            <a:ext cx="7381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F3F"/>
                </a:solidFill>
                <a:latin typeface="Helvetica Neue"/>
                <a:ea typeface="Helvetica Neue"/>
                <a:cs typeface="Helvetica Neue"/>
              </a:defRPr>
            </a:pPr>
            <a:r>
              <a:rPr sz="2175" b="0">
                <a:solidFill>
                  <a:srgbClr val="172F3F"/>
                </a:solidFill>
                <a:latin typeface="Helvetica Neue"/>
                <a:ea typeface="Helvetica Neue"/>
                <a:cs typeface="Helvetica Neue"/>
              </a:rPr>
              <a:t>Exact values and an explicit MPT support contract</a:t>
            </a:r>
          </a:p>
        </p:txBody>
      </p:sp>
      <p:sp>
        <p:nvSpPr>
          <p:cNvPr id="11" name="">
            <a:extLst xmlns:a="http://schemas.openxmlformats.org/drawingml/2006/main">
              <a:ext uri="{FF2B5EF4-FFF2-40B4-BE49-F238E27FC236}">
                <a16:creationId xmlns:a16="http://schemas.microsoft.com/office/drawing/2014/main" id="{B666BB8B-EB1A-4906-B2A7-7D43DA82F4D4}"/>
              </a:ext>
            </a:extLst>
          </p:cNvPr>
          <p:cNvSpPr>
            <a:spLocks xmlns:a="http://schemas.openxmlformats.org/drawingml/2006/main" noGrp="1"/>
          </p:cNvSpPr>
          <p:nvPr/>
        </p:nvSpPr>
        <p:spPr>
          <a:xfrm xmlns:a="http://schemas.openxmlformats.org/drawingml/2006/main">
            <a:off x="685800" y="58102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471"/>
                </a:solidFill>
                <a:latin typeface="Helvetica Neue"/>
                <a:ea typeface="Helvetica Neue"/>
                <a:cs typeface="Helvetica Neue"/>
              </a:defRPr>
            </a:pPr>
            <a:r>
              <a:rPr sz="1800" b="0">
                <a:solidFill>
                  <a:srgbClr val="506471"/>
                </a:solidFill>
                <a:latin typeface="Helvetica Neue"/>
                <a:ea typeface="Helvetica Neue"/>
                <a:cs typeface="Helvetica Neue"/>
              </a:rPr>
              <a:t>The register distinguishes compiler, source, mock, synthetic and ledger evidence.</a:t>
            </a:r>
          </a:p>
        </p:txBody>
      </p:sp>
    </p:spTree>
    <p:extLst>
      <p:ext uri="{BB962C8B-B14F-4D97-AF65-F5344CB8AC3E}">
        <p14:creationId xmlns:p14="http://schemas.microsoft.com/office/powerpoint/2010/main" val="879640681"/>
      </p:ext>
    </p:extLst>
  </p:cSld>
</p:sld>
</file>

<file path=ppt/slides/slide12.xml><?xml version="1.0" encoding="utf-8"?>
<p:sld xmlns:p="http://schemas.openxmlformats.org/presentationml/2006/main">
  <p:cSld>
    <p:bg>
      <p:bgPr>
        <a:solidFill xmlns:a="http://schemas.openxmlformats.org/drawingml/2006/main">
          <a:srgbClr val="F8F8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99D6F3B-1CA8-496F-AFDE-97EEA97C1444}"/>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F"/>
                </a:solidFill>
                <a:latin typeface="Helvetica Neue"/>
                <a:ea typeface="Helvetica Neue"/>
                <a:cs typeface="Helvetica Neue"/>
              </a:defRPr>
            </a:pPr>
            <a:r>
              <a:rPr sz="3450" b="1">
                <a:solidFill>
                  <a:srgbClr val="172F3F"/>
                </a:solidFill>
                <a:latin typeface="Helvetica Neue"/>
                <a:ea typeface="Helvetica Neue"/>
                <a:cs typeface="Helvetica Neue"/>
              </a:rPr>
              <a:t>Make improvement repeatable</a:t>
            </a:r>
          </a:p>
        </p:txBody>
      </p:sp>
      <p:sp>
        <p:nvSpPr>
          <p:cNvPr id="2" name="">
            <a:extLst xmlns:a="http://schemas.openxmlformats.org/drawingml/2006/main">
              <a:ext uri="{FF2B5EF4-FFF2-40B4-BE49-F238E27FC236}">
                <a16:creationId xmlns:a16="http://schemas.microsoft.com/office/drawing/2014/main" id="{FAA5B848-03E5-4A2C-B5C8-081EF8D5021B}"/>
              </a:ext>
            </a:extLst>
          </p:cNvPr>
          <p:cNvSpPr>
            <a:spLocks xmlns:a="http://schemas.openxmlformats.org/drawingml/2006/main" noGrp="1"/>
          </p:cNvSpPr>
          <p:nvPr/>
        </p:nvSpPr>
        <p:spPr>
          <a:xfrm xmlns:a="http://schemas.openxmlformats.org/drawingml/2006/main">
            <a:off x="685800" y="62865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471"/>
                </a:solidFill>
                <a:latin typeface="Helvetica Neue"/>
                <a:ea typeface="Helvetica Neue"/>
                <a:cs typeface="Helvetica Neue"/>
              </a:defRPr>
            </a:pPr>
            <a:r>
              <a:rPr sz="1350" b="0">
                <a:solidFill>
                  <a:srgbClr val="506471"/>
                </a:solidFill>
                <a:latin typeface="Helvetica Neue"/>
                <a:ea typeface="Helvetica Neue"/>
                <a:cs typeface="Helvetica Neue"/>
              </a:rPr>
              <a:t>aha   /   Ripple DevRel   /   12</a:t>
            </a:r>
          </a:p>
        </p:txBody>
      </p:sp>
      <p:sp>
        <p:nvSpPr>
          <p:cNvPr id="3" name="">
            <a:extLst xmlns:a="http://schemas.openxmlformats.org/drawingml/2006/main">
              <a:ext uri="{FF2B5EF4-FFF2-40B4-BE49-F238E27FC236}">
                <a16:creationId xmlns:a16="http://schemas.microsoft.com/office/drawing/2014/main" id="{910B5467-EB46-4FD9-A0E3-8D190F0DC7B0}"/>
              </a:ext>
            </a:extLst>
          </p:cNvPr>
          <p:cNvSpPr>
            <a:spLocks xmlns:a="http://schemas.openxmlformats.org/drawingml/2006/main" noGrp="1"/>
          </p:cNvSpPr>
          <p:nvPr/>
        </p:nvSpPr>
        <p:spPr>
          <a:xfrm xmlns:a="http://schemas.openxmlformats.org/drawingml/2006/main">
            <a:off x="685800" y="214312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D7479"/>
                </a:solidFill>
                <a:latin typeface="Helvetica Neue"/>
                <a:ea typeface="Helvetica Neue"/>
                <a:cs typeface="Helvetica Neue"/>
              </a:defRPr>
            </a:pPr>
            <a:r>
              <a:rPr sz="3000" b="1">
                <a:solidFill>
                  <a:srgbClr val="1D7479"/>
                </a:solidFill>
                <a:latin typeface="Helvetica Neue"/>
                <a:ea typeface="Helvetica Neue"/>
                <a:cs typeface="Helvetica Neue"/>
              </a:rPr>
              <a:t>1</a:t>
            </a:r>
          </a:p>
        </p:txBody>
      </p:sp>
      <p:sp>
        <p:nvSpPr>
          <p:cNvPr id="4" name="">
            <a:extLst xmlns:a="http://schemas.openxmlformats.org/drawingml/2006/main">
              <a:ext uri="{FF2B5EF4-FFF2-40B4-BE49-F238E27FC236}">
                <a16:creationId xmlns:a16="http://schemas.microsoft.com/office/drawing/2014/main" id="{D126F08D-53B8-49BF-98D0-2A4AA0259D47}"/>
              </a:ext>
            </a:extLst>
          </p:cNvPr>
          <p:cNvSpPr>
            <a:spLocks xmlns:a="http://schemas.openxmlformats.org/drawingml/2006/main" noGrp="1"/>
          </p:cNvSpPr>
          <p:nvPr/>
        </p:nvSpPr>
        <p:spPr>
          <a:xfrm xmlns:a="http://schemas.openxmlformats.org/drawingml/2006/main">
            <a:off x="1619250" y="2143125"/>
            <a:ext cx="9715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2F3F"/>
                </a:solidFill>
                <a:latin typeface="Helvetica Neue"/>
                <a:ea typeface="Helvetica Neue"/>
                <a:cs typeface="Helvetica Neue"/>
              </a:defRPr>
            </a:pPr>
            <a:r>
              <a:rPr sz="2400" b="0">
                <a:solidFill>
                  <a:srgbClr val="172F3F"/>
                </a:solidFill>
                <a:latin typeface="Helvetica Neue"/>
                <a:ea typeface="Helvetica Neue"/>
                <a:cs typeface="Helvetica Neue"/>
              </a:rPr>
              <a:t>Restore accurate guidance in the published declarations.</a:t>
            </a:r>
          </a:p>
        </p:txBody>
      </p:sp>
      <p:sp>
        <p:nvSpPr>
          <p:cNvPr id="5" name="">
            <a:extLst xmlns:a="http://schemas.openxmlformats.org/drawingml/2006/main">
              <a:ext uri="{FF2B5EF4-FFF2-40B4-BE49-F238E27FC236}">
                <a16:creationId xmlns:a16="http://schemas.microsoft.com/office/drawing/2014/main" id="{F922043D-1C2E-4F6D-8FDB-AB7E04AB4D95}"/>
              </a:ext>
            </a:extLst>
          </p:cNvPr>
          <p:cNvSpPr>
            <a:spLocks xmlns:a="http://schemas.openxmlformats.org/drawingml/2006/main" noGrp="1"/>
          </p:cNvSpPr>
          <p:nvPr/>
        </p:nvSpPr>
        <p:spPr>
          <a:xfrm xmlns:a="http://schemas.openxmlformats.org/drawingml/2006/main">
            <a:off x="685800" y="30384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D7479"/>
                </a:solidFill>
                <a:latin typeface="Helvetica Neue"/>
                <a:ea typeface="Helvetica Neue"/>
                <a:cs typeface="Helvetica Neue"/>
              </a:defRPr>
            </a:pPr>
            <a:r>
              <a:rPr sz="3000" b="1">
                <a:solidFill>
                  <a:srgbClr val="1D7479"/>
                </a:solidFill>
                <a:latin typeface="Helvetica Neue"/>
                <a:ea typeface="Helvetica Neue"/>
                <a:cs typeface="Helvetica Neue"/>
              </a:rPr>
              <a:t>2</a:t>
            </a:r>
          </a:p>
        </p:txBody>
      </p:sp>
      <p:sp>
        <p:nvSpPr>
          <p:cNvPr id="6" name="">
            <a:extLst xmlns:a="http://schemas.openxmlformats.org/drawingml/2006/main">
              <a:ext uri="{FF2B5EF4-FFF2-40B4-BE49-F238E27FC236}">
                <a16:creationId xmlns:a16="http://schemas.microsoft.com/office/drawing/2014/main" id="{D4B1C7F5-49D0-40EF-8106-F33B2341152A}"/>
              </a:ext>
            </a:extLst>
          </p:cNvPr>
          <p:cNvSpPr>
            <a:spLocks xmlns:a="http://schemas.openxmlformats.org/drawingml/2006/main" noGrp="1"/>
          </p:cNvSpPr>
          <p:nvPr/>
        </p:nvSpPr>
        <p:spPr>
          <a:xfrm xmlns:a="http://schemas.openxmlformats.org/drawingml/2006/main">
            <a:off x="1619250" y="3038475"/>
            <a:ext cx="9715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2F3F"/>
                </a:solidFill>
                <a:latin typeface="Helvetica Neue"/>
                <a:ea typeface="Helvetica Neue"/>
                <a:cs typeface="Helvetica Neue"/>
              </a:defRPr>
            </a:pPr>
            <a:r>
              <a:rPr sz="2400" b="0">
                <a:solidFill>
                  <a:srgbClr val="172F3F"/>
                </a:solidFill>
                <a:latin typeface="Helvetica Neue"/>
                <a:ea typeface="Helvetica Neue"/>
                <a:cs typeface="Helvetica Neue"/>
              </a:rPr>
              <a:t>Review and release coherent input, query and lifecycle types.</a:t>
            </a:r>
          </a:p>
        </p:txBody>
      </p:sp>
      <p:sp>
        <p:nvSpPr>
          <p:cNvPr id="7" name="">
            <a:extLst xmlns:a="http://schemas.openxmlformats.org/drawingml/2006/main">
              <a:ext uri="{FF2B5EF4-FFF2-40B4-BE49-F238E27FC236}">
                <a16:creationId xmlns:a16="http://schemas.microsoft.com/office/drawing/2014/main" id="{F2333B2B-9AAB-4F05-BD4C-90B6F267673C}"/>
              </a:ext>
            </a:extLst>
          </p:cNvPr>
          <p:cNvSpPr>
            <a:spLocks xmlns:a="http://schemas.openxmlformats.org/drawingml/2006/main" noGrp="1"/>
          </p:cNvSpPr>
          <p:nvPr/>
        </p:nvSpPr>
        <p:spPr>
          <a:xfrm xmlns:a="http://schemas.openxmlformats.org/drawingml/2006/main">
            <a:off x="685800" y="393382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D7479"/>
                </a:solidFill>
                <a:latin typeface="Helvetica Neue"/>
                <a:ea typeface="Helvetica Neue"/>
                <a:cs typeface="Helvetica Neue"/>
              </a:defRPr>
            </a:pPr>
            <a:r>
              <a:rPr sz="3000" b="1">
                <a:solidFill>
                  <a:srgbClr val="1D7479"/>
                </a:solidFill>
                <a:latin typeface="Helvetica Neue"/>
                <a:ea typeface="Helvetica Neue"/>
                <a:cs typeface="Helvetica Neue"/>
              </a:rPr>
              <a:t>3</a:t>
            </a:r>
          </a:p>
        </p:txBody>
      </p:sp>
      <p:sp>
        <p:nvSpPr>
          <p:cNvPr id="8" name="">
            <a:extLst xmlns:a="http://schemas.openxmlformats.org/drawingml/2006/main">
              <a:ext uri="{FF2B5EF4-FFF2-40B4-BE49-F238E27FC236}">
                <a16:creationId xmlns:a16="http://schemas.microsoft.com/office/drawing/2014/main" id="{D62AA2B3-8844-476C-8820-309763C1325B}"/>
              </a:ext>
            </a:extLst>
          </p:cNvPr>
          <p:cNvSpPr>
            <a:spLocks xmlns:a="http://schemas.openxmlformats.org/drawingml/2006/main" noGrp="1"/>
          </p:cNvSpPr>
          <p:nvPr/>
        </p:nvSpPr>
        <p:spPr>
          <a:xfrm xmlns:a="http://schemas.openxmlformats.org/drawingml/2006/main">
            <a:off x="1619250" y="3933825"/>
            <a:ext cx="9715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2F3F"/>
                </a:solidFill>
                <a:latin typeface="Helvetica Neue"/>
                <a:ea typeface="Helvetica Neue"/>
                <a:cs typeface="Helvetica Neue"/>
              </a:defRPr>
            </a:pPr>
            <a:r>
              <a:rPr sz="2400" b="0">
                <a:solidFill>
                  <a:srgbClr val="172F3F"/>
                </a:solidFill>
                <a:latin typeface="Helvetica Neue"/>
                <a:ea typeface="Helvetica Neue"/>
                <a:cs typeface="Helvetica Neue"/>
              </a:rPr>
              <a:t>Maintain executable examples and matching tutorials.</a:t>
            </a:r>
          </a:p>
        </p:txBody>
      </p:sp>
      <p:sp>
        <p:nvSpPr>
          <p:cNvPr id="9" name="">
            <a:extLst xmlns:a="http://schemas.openxmlformats.org/drawingml/2006/main">
              <a:ext uri="{FF2B5EF4-FFF2-40B4-BE49-F238E27FC236}">
                <a16:creationId xmlns:a16="http://schemas.microsoft.com/office/drawing/2014/main" id="{6712DFEE-E676-4DA7-AB87-AB0DAB095B18}"/>
              </a:ext>
            </a:extLst>
          </p:cNvPr>
          <p:cNvSpPr>
            <a:spLocks xmlns:a="http://schemas.openxmlformats.org/drawingml/2006/main" noGrp="1"/>
          </p:cNvSpPr>
          <p:nvPr/>
        </p:nvSpPr>
        <p:spPr>
          <a:xfrm xmlns:a="http://schemas.openxmlformats.org/drawingml/2006/main">
            <a:off x="685800" y="48291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D7479"/>
                </a:solidFill>
                <a:latin typeface="Helvetica Neue"/>
                <a:ea typeface="Helvetica Neue"/>
                <a:cs typeface="Helvetica Neue"/>
              </a:defRPr>
            </a:pPr>
            <a:r>
              <a:rPr sz="3000" b="1">
                <a:solidFill>
                  <a:srgbClr val="1D7479"/>
                </a:solidFill>
                <a:latin typeface="Helvetica Neue"/>
                <a:ea typeface="Helvetica Neue"/>
                <a:cs typeface="Helvetica Neue"/>
              </a:rPr>
              <a:t>4</a:t>
            </a:r>
          </a:p>
        </p:txBody>
      </p:sp>
      <p:sp>
        <p:nvSpPr>
          <p:cNvPr id="10" name="">
            <a:extLst xmlns:a="http://schemas.openxmlformats.org/drawingml/2006/main">
              <a:ext uri="{FF2B5EF4-FFF2-40B4-BE49-F238E27FC236}">
                <a16:creationId xmlns:a16="http://schemas.microsoft.com/office/drawing/2014/main" id="{C193590A-497E-402E-826E-AF8EADDBBD63}"/>
              </a:ext>
            </a:extLst>
          </p:cNvPr>
          <p:cNvSpPr>
            <a:spLocks xmlns:a="http://schemas.openxmlformats.org/drawingml/2006/main" noGrp="1"/>
          </p:cNvSpPr>
          <p:nvPr/>
        </p:nvSpPr>
        <p:spPr>
          <a:xfrm xmlns:a="http://schemas.openxmlformats.org/drawingml/2006/main">
            <a:off x="1619250" y="4829175"/>
            <a:ext cx="9715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2F3F"/>
                </a:solidFill>
                <a:latin typeface="Helvetica Neue"/>
                <a:ea typeface="Helvetica Neue"/>
                <a:cs typeface="Helvetica Neue"/>
              </a:defRPr>
            </a:pPr>
            <a:r>
              <a:rPr sz="2400" b="0">
                <a:solidFill>
                  <a:srgbClr val="172F3F"/>
                </a:solidFill>
                <a:latin typeface="Helvetica Neue"/>
                <a:ea typeface="Helvetica Neue"/>
                <a:cs typeface="Helvetica Neue"/>
              </a:rPr>
              <a:t>Check package consumers and teaching journeys on each release.</a:t>
            </a:r>
          </a:p>
        </p:txBody>
      </p:sp>
    </p:spTree>
    <p:extLst>
      <p:ext uri="{BB962C8B-B14F-4D97-AF65-F5344CB8AC3E}">
        <p14:creationId xmlns:p14="http://schemas.microsoft.com/office/powerpoint/2010/main" val="1518238041"/>
      </p:ext>
    </p:extLst>
  </p:cSld>
</p:sld>
</file>

<file path=ppt/slides/slide13.xml><?xml version="1.0" encoding="utf-8"?>
<p:sld xmlns:p="http://schemas.openxmlformats.org/presentationml/2006/main">
  <p:cSld>
    <p:bg>
      <p:bgPr>
        <a:solidFill xmlns:a="http://schemas.openxmlformats.org/drawingml/2006/main">
          <a:srgbClr val="F8F8F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FD91A03-39A7-497A-A742-E164DC1656E8}"/>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F"/>
                </a:solidFill>
                <a:latin typeface="Helvetica Neue"/>
                <a:ea typeface="Helvetica Neue"/>
                <a:cs typeface="Helvetica Neue"/>
              </a:defRPr>
            </a:pPr>
            <a:r>
              <a:rPr sz="3450" b="1">
                <a:solidFill>
                  <a:srgbClr val="172F3F"/>
                </a:solidFill>
                <a:latin typeface="Helvetica Neue"/>
                <a:ea typeface="Helvetica Neue"/>
                <a:cs typeface="Helvetica Neue"/>
              </a:rPr>
              <a:t>A sustained DevX partnership</a:t>
            </a:r>
          </a:p>
        </p:txBody>
      </p:sp>
      <p:sp>
        <p:nvSpPr>
          <p:cNvPr id="2" name="">
            <a:extLst xmlns:a="http://schemas.openxmlformats.org/drawingml/2006/main">
              <a:ext uri="{FF2B5EF4-FFF2-40B4-BE49-F238E27FC236}">
                <a16:creationId xmlns:a16="http://schemas.microsoft.com/office/drawing/2014/main" id="{C8CF489E-A189-4778-BA3E-C652635D0FD1}"/>
              </a:ext>
            </a:extLst>
          </p:cNvPr>
          <p:cNvSpPr>
            <a:spLocks xmlns:a="http://schemas.openxmlformats.org/drawingml/2006/main" noGrp="1"/>
          </p:cNvSpPr>
          <p:nvPr/>
        </p:nvSpPr>
        <p:spPr>
          <a:xfrm xmlns:a="http://schemas.openxmlformats.org/drawingml/2006/main">
            <a:off x="685800" y="62865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471"/>
                </a:solidFill>
                <a:latin typeface="Helvetica Neue"/>
                <a:ea typeface="Helvetica Neue"/>
                <a:cs typeface="Helvetica Neue"/>
              </a:defRPr>
            </a:pPr>
            <a:r>
              <a:rPr sz="1350" b="0">
                <a:solidFill>
                  <a:srgbClr val="506471"/>
                </a:solidFill>
                <a:latin typeface="Helvetica Neue"/>
                <a:ea typeface="Helvetica Neue"/>
                <a:cs typeface="Helvetica Neue"/>
              </a:rPr>
              <a:t>aha   /   Ripple DevRel   /   13</a:t>
            </a:r>
          </a:p>
        </p:txBody>
      </p:sp>
      <p:sp>
        <p:nvSpPr>
          <p:cNvPr id="3" name="">
            <a:extLst xmlns:a="http://schemas.openxmlformats.org/drawingml/2006/main">
              <a:ext uri="{FF2B5EF4-FFF2-40B4-BE49-F238E27FC236}">
                <a16:creationId xmlns:a16="http://schemas.microsoft.com/office/drawing/2014/main" id="{0FF7A48E-058B-43C5-96E5-0A1452CBAD11}"/>
              </a:ext>
            </a:extLst>
          </p:cNvPr>
          <p:cNvSpPr>
            <a:spLocks xmlns:a="http://schemas.openxmlformats.org/drawingml/2006/main" noGrp="1"/>
          </p:cNvSpPr>
          <p:nvPr/>
        </p:nvSpPr>
        <p:spPr>
          <a:xfrm xmlns:a="http://schemas.openxmlformats.org/drawingml/2006/main">
            <a:off x="685800" y="2228850"/>
            <a:ext cx="10620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D7479"/>
                </a:solidFill>
                <a:latin typeface="Helvetica Neue"/>
                <a:ea typeface="Helvetica Neue"/>
                <a:cs typeface="Helvetica Neue"/>
              </a:defRPr>
            </a:pPr>
            <a:r>
              <a:rPr sz="2775" b="1">
                <a:solidFill>
                  <a:srgbClr val="1D7479"/>
                </a:solidFill>
                <a:latin typeface="Helvetica Neue"/>
                <a:ea typeface="Helvetica Neue"/>
                <a:cs typeface="Helvetica Neue"/>
              </a:rPr>
              <a:t>Begin with an agreed xrpl.js implementation scope</a:t>
            </a:r>
          </a:p>
          <a:p xmlns:a="http://schemas.openxmlformats.org/drawingml/2006/main">
            <a:pPr>
              <a:defRPr sz="2775" b="1">
                <a:solidFill>
                  <a:srgbClr val="1D7479"/>
                </a:solidFill>
                <a:latin typeface="Helvetica Neue"/>
                <a:ea typeface="Helvetica Neue"/>
                <a:cs typeface="Helvetica Neue"/>
              </a:defRPr>
            </a:pPr>
            <a:r>
              <a:rPr sz="2775" b="1">
                <a:solidFill>
                  <a:srgbClr val="1D7479"/>
                </a:solidFill>
                <a:latin typeface="Helvetica Neue"/>
                <a:ea typeface="Helvetica Neue"/>
                <a:cs typeface="Helvetica Neue"/>
              </a:rPr>
              <a:t>and clear release acceptance checks.</a:t>
            </a:r>
          </a:p>
        </p:txBody>
      </p:sp>
      <p:sp>
        <p:nvSpPr>
          <p:cNvPr id="4" name="">
            <a:extLst xmlns:a="http://schemas.openxmlformats.org/drawingml/2006/main">
              <a:ext uri="{FF2B5EF4-FFF2-40B4-BE49-F238E27FC236}">
                <a16:creationId xmlns:a16="http://schemas.microsoft.com/office/drawing/2014/main" id="{5231551E-26E8-426E-889A-7A582FEE22BD}"/>
              </a:ext>
            </a:extLst>
          </p:cNvPr>
          <p:cNvSpPr>
            <a:spLocks xmlns:a="http://schemas.openxmlformats.org/drawingml/2006/main" noGrp="1"/>
          </p:cNvSpPr>
          <p:nvPr/>
        </p:nvSpPr>
        <p:spPr>
          <a:xfrm xmlns:a="http://schemas.openxmlformats.org/drawingml/2006/main">
            <a:off x="685800" y="38862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2F3F"/>
                </a:solidFill>
                <a:latin typeface="Helvetica Neue"/>
                <a:ea typeface="Helvetica Neue"/>
                <a:cs typeface="Helvetica Neue"/>
              </a:defRPr>
            </a:pPr>
            <a:r>
              <a:rPr sz="2325" b="0">
                <a:solidFill>
                  <a:srgbClr val="172F3F"/>
                </a:solidFill>
                <a:latin typeface="Helvetica Neue"/>
                <a:ea typeface="Helvetica Neue"/>
                <a:cs typeface="Helvetica Neue"/>
              </a:rPr>
              <a:t>Ongoing work</a:t>
            </a:r>
          </a:p>
          <a:p xmlns:a="http://schemas.openxmlformats.org/drawingml/2006/main">
            <a:pPr>
              <a:defRPr sz="2325" b="0">
                <a:solidFill>
                  <a:srgbClr val="172F3F"/>
                </a:solidFill>
                <a:latin typeface="Helvetica Neue"/>
                <a:ea typeface="Helvetica Neue"/>
                <a:cs typeface="Helvetica Neue"/>
              </a:defRPr>
            </a:pPr>
            <a:r>
              <a:rPr sz="2325" b="0">
                <a:solidFill>
                  <a:srgbClr val="172F3F"/>
                </a:solidFill>
                <a:latin typeface="Helvetica Neue"/>
                <a:ea typeface="Helvetica Neue"/>
                <a:cs typeface="Helvetica Neue"/>
              </a:rPr>
              <a:t>SDK ergonomics, examples, documentation and regression prevention</a:t>
            </a:r>
          </a:p>
        </p:txBody>
      </p:sp>
      <p:sp>
        <p:nvSpPr>
          <p:cNvPr id="5" name="">
            <a:extLst xmlns:a="http://schemas.openxmlformats.org/drawingml/2006/main">
              <a:ext uri="{FF2B5EF4-FFF2-40B4-BE49-F238E27FC236}">
                <a16:creationId xmlns:a16="http://schemas.microsoft.com/office/drawing/2014/main" id="{185E428A-620A-470A-842E-AFB6184CEAA0}"/>
              </a:ext>
            </a:extLst>
          </p:cNvPr>
          <p:cNvSpPr>
            <a:spLocks xmlns:a="http://schemas.openxmlformats.org/drawingml/2006/main" noGrp="1"/>
          </p:cNvSpPr>
          <p:nvPr/>
        </p:nvSpPr>
        <p:spPr>
          <a:xfrm xmlns:a="http://schemas.openxmlformats.org/drawingml/2006/main">
            <a:off x="685800" y="52863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471"/>
                </a:solidFill>
                <a:latin typeface="Helvetica Neue"/>
                <a:ea typeface="Helvetica Neue"/>
                <a:cs typeface="Helvetica Neue"/>
              </a:defRPr>
            </a:pPr>
            <a:r>
              <a:rPr sz="2175" b="0">
                <a:solidFill>
                  <a:srgbClr val="506471"/>
                </a:solidFill>
                <a:latin typeface="Helvetica Neue"/>
                <a:ea typeface="Helvetica Neue"/>
                <a:cs typeface="Helvetica Neue"/>
              </a:rPr>
              <a:t>Next audit</a:t>
            </a:r>
          </a:p>
          <a:p xmlns:a="http://schemas.openxmlformats.org/drawingml/2006/main">
            <a:pPr>
              <a:defRPr sz="2175" b="0">
                <a:solidFill>
                  <a:srgbClr val="506471"/>
                </a:solidFill>
                <a:latin typeface="Helvetica Neue"/>
                <a:ea typeface="Helvetica Neue"/>
                <a:cs typeface="Helvetica Neue"/>
              </a:defRPr>
            </a:pPr>
            <a:r>
              <a:rPr sz="2175" b="0">
                <a:solidFill>
                  <a:srgbClr val="506471"/>
                </a:solidFill>
                <a:latin typeface="Helvetica Neue"/>
                <a:ea typeface="Helvetica Neue"/>
                <a:cs typeface="Helvetica Neue"/>
              </a:rPr>
              <a:t>Rust crate API and CLI developer experience</a:t>
            </a:r>
          </a:p>
        </p:txBody>
      </p:sp>
    </p:spTree>
    <p:extLst>
      <p:ext uri="{BB962C8B-B14F-4D97-AF65-F5344CB8AC3E}">
        <p14:creationId xmlns:p14="http://schemas.microsoft.com/office/powerpoint/2010/main" val="11379487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2026-09-22T18:56:37.0400000Z</dcterms:created>
  <dcterms:modified xsi:type="dcterms:W3CDTF">2026-09-22T18:56:37.0400000Z</dcterms:modified>
</coreProperties>
</file>